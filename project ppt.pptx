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62" r:id="rId3"/>
    <p:sldId id="266" r:id="rId4"/>
    <p:sldId id="267" r:id="rId5"/>
    <p:sldId id="283" r:id="rId6"/>
    <p:sldId id="269" r:id="rId7"/>
    <p:sldId id="268" r:id="rId8"/>
    <p:sldId id="281" r:id="rId9"/>
    <p:sldId id="286" r:id="rId10"/>
    <p:sldId id="284" r:id="rId11"/>
    <p:sldId id="285" r:id="rId12"/>
    <p:sldId id="278" r:id="rId13"/>
    <p:sldId id="279" r:id="rId14"/>
    <p:sldId id="282" r:id="rId15"/>
    <p:sldId id="280"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6"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1CFD2F-6ADA-43F7-B0A0-295F42FDA8BF}" v="181" dt="2025-04-07T07:18:32.61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1" d="100"/>
          <a:sy n="71" d="100"/>
        </p:scale>
        <p:origin x="1144" y="56"/>
      </p:cViewPr>
      <p:guideLst>
        <p:guide orient="horz" pos="2146"/>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EDD2037-97BD-447D-BBC7-AC062A13A9C5}" type="datetimeFigureOut">
              <a:rPr lang="en-IN" smtClean="0"/>
              <a:t>23-04-2025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71E025-69E1-49BB-905F-40324D528F39}"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EDD2037-97BD-447D-BBC7-AC062A13A9C5}" type="datetimeFigureOut">
              <a:rPr lang="en-IN" smtClean="0"/>
              <a:t>23-04-2025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71E025-69E1-49BB-905F-40324D528F39}"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EDD2037-97BD-447D-BBC7-AC062A13A9C5}" type="datetimeFigureOut">
              <a:rPr lang="en-IN" smtClean="0"/>
              <a:t>23-04-2025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71E025-69E1-49BB-905F-40324D528F3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EDD2037-97BD-447D-BBC7-AC062A13A9C5}" type="datetimeFigureOut">
              <a:rPr lang="en-IN" smtClean="0"/>
              <a:t>23-04-2025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171E025-69E1-49BB-905F-40324D528F39}"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4EDD2037-97BD-447D-BBC7-AC062A13A9C5}" type="datetimeFigureOut">
              <a:rPr lang="en-IN" smtClean="0"/>
              <a:t>23-04-2025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171E025-69E1-49BB-905F-40324D528F39}"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EDD2037-97BD-447D-BBC7-AC062A13A9C5}" type="datetimeFigureOut">
              <a:rPr lang="en-IN" smtClean="0"/>
              <a:t>23-04-2025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171E025-69E1-49BB-905F-40324D528F39}"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D2037-97BD-447D-BBC7-AC062A13A9C5}" type="datetimeFigureOut">
              <a:rPr lang="en-IN" smtClean="0"/>
              <a:t>23-04-2025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171E025-69E1-49BB-905F-40324D528F39}"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EDD2037-97BD-447D-BBC7-AC062A13A9C5}" type="datetimeFigureOut">
              <a:rPr lang="en-IN" smtClean="0"/>
              <a:t>23-04-2025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171E025-69E1-49BB-905F-40324D528F39}"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EDD2037-97BD-447D-BBC7-AC062A13A9C5}" type="datetimeFigureOut">
              <a:rPr lang="en-IN" smtClean="0"/>
              <a:t>23-04-2025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171E025-69E1-49BB-905F-40324D528F39}"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EDD2037-97BD-447D-BBC7-AC062A13A9C5}" type="datetimeFigureOut">
              <a:rPr lang="en-IN" smtClean="0"/>
              <a:t>23-04-2025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71E025-69E1-49BB-905F-40324D528F39}"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EDD2037-97BD-447D-BBC7-AC062A13A9C5}" type="datetimeFigureOut">
              <a:rPr lang="en-IN" smtClean="0"/>
              <a:t>23-04-2025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71E025-69E1-49BB-905F-40324D528F39}" type="slidenum">
              <a:rPr lang="en-IN" smtClean="0"/>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DD2037-97BD-447D-BBC7-AC062A13A9C5}" type="datetimeFigureOut">
              <a:rPr lang="en-IN" smtClean="0"/>
              <a:t>23-04-2025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171E025-69E1-49BB-905F-40324D528F39}"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48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DD2037-97BD-447D-BBC7-AC062A13A9C5}" type="datetimeFigureOut">
              <a:rPr lang="en-IN" smtClean="0"/>
              <a:t>23-04-2025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71E025-69E1-49BB-905F-40324D528F39}"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ubtitle 8"/>
          <p:cNvSpPr>
            <a:spLocks noGrp="1"/>
          </p:cNvSpPr>
          <p:nvPr>
            <p:ph type="subTitle" idx="1"/>
          </p:nvPr>
        </p:nvSpPr>
        <p:spPr>
          <a:xfrm>
            <a:off x="107503" y="1556792"/>
            <a:ext cx="8938035" cy="5184576"/>
          </a:xfrm>
        </p:spPr>
        <p:txBody>
          <a:bodyPr>
            <a:normAutofit fontScale="92500" lnSpcReduction="10000"/>
          </a:bodyPr>
          <a:lstStyle/>
          <a:p>
            <a:r>
              <a:rPr lang="en-IN" sz="2000" b="1" dirty="0">
                <a:solidFill>
                  <a:schemeClr val="accent1"/>
                </a:solidFill>
                <a:latin typeface="Times New Roman" panose="02020603050405020304" pitchFamily="18" charset="0"/>
                <a:cs typeface="Times New Roman" panose="02020603050405020304" pitchFamily="18" charset="0"/>
              </a:rPr>
              <a:t>Project Final Review for the award of Bachelor of Technology </a:t>
            </a:r>
          </a:p>
          <a:p>
            <a:r>
              <a:rPr lang="en-US" altLang="en-US" sz="2000" b="1" dirty="0">
                <a:solidFill>
                  <a:srgbClr val="FF0000"/>
                </a:solidFill>
                <a:latin typeface="Times New Roman" panose="02020603050405020304" pitchFamily="18" charset="0"/>
                <a:cs typeface="Times New Roman" panose="02020603050405020304" pitchFamily="18" charset="0"/>
                <a:sym typeface="+mn-ea"/>
              </a:rPr>
              <a:t>DESIGN AND ANALYSIS OF RECTANGULAR MICROSTRIP PATCH ANTENNA FOR 5G APPLICATIONS USING HFSS</a:t>
            </a:r>
            <a:endParaRPr lang="en-IN" sz="2000" dirty="0"/>
          </a:p>
          <a:p>
            <a:r>
              <a:rPr lang="en-IN" sz="1780" dirty="0">
                <a:solidFill>
                  <a:schemeClr val="tx1"/>
                </a:solidFill>
                <a:latin typeface="Times New Roman" panose="02020603050405020304" pitchFamily="18" charset="0"/>
                <a:cs typeface="Times New Roman" panose="02020603050405020304" pitchFamily="18" charset="0"/>
                <a:sym typeface="+mn-ea"/>
              </a:rPr>
              <a:t>Under The Guidance of </a:t>
            </a:r>
            <a:endParaRPr lang="en-IN" sz="1780" dirty="0">
              <a:solidFill>
                <a:schemeClr val="tx1"/>
              </a:solidFill>
              <a:latin typeface="Times New Roman" panose="02020603050405020304" pitchFamily="18" charset="0"/>
              <a:cs typeface="Times New Roman" panose="02020603050405020304" pitchFamily="18" charset="0"/>
            </a:endParaRPr>
          </a:p>
          <a:p>
            <a:r>
              <a:rPr lang="en-US" altLang="en-IN" sz="2400" dirty="0">
                <a:solidFill>
                  <a:schemeClr val="accent1">
                    <a:lumMod val="75000"/>
                  </a:schemeClr>
                </a:solidFill>
                <a:latin typeface="Times New Roman" panose="02020603050405020304" pitchFamily="18" charset="0"/>
                <a:cs typeface="Times New Roman" panose="02020603050405020304" pitchFamily="18" charset="0"/>
                <a:sym typeface="+mn-ea"/>
              </a:rPr>
              <a:t>K.Vijaya Lakshmi</a:t>
            </a:r>
            <a:r>
              <a:rPr lang="en-IN" sz="2400" dirty="0">
                <a:solidFill>
                  <a:schemeClr val="accent1">
                    <a:lumMod val="75000"/>
                  </a:schemeClr>
                </a:solidFill>
                <a:latin typeface="Times New Roman" panose="02020603050405020304" pitchFamily="18" charset="0"/>
                <a:cs typeface="Times New Roman" panose="02020603050405020304" pitchFamily="18" charset="0"/>
                <a:sym typeface="+mn-ea"/>
              </a:rPr>
              <a:t>, </a:t>
            </a:r>
            <a:r>
              <a:rPr lang="en-US" altLang="en-IN" sz="2400" dirty="0" err="1">
                <a:solidFill>
                  <a:schemeClr val="accent1">
                    <a:lumMod val="75000"/>
                  </a:schemeClr>
                </a:solidFill>
                <a:latin typeface="Times New Roman" panose="02020603050405020304" pitchFamily="18" charset="0"/>
                <a:cs typeface="Times New Roman" panose="02020603050405020304" pitchFamily="18" charset="0"/>
                <a:sym typeface="+mn-ea"/>
              </a:rPr>
              <a:t>M.</a:t>
            </a:r>
            <a:r>
              <a:rPr lang="en-US" altLang="en-IN" sz="1500" b="1" dirty="0" err="1">
                <a:solidFill>
                  <a:schemeClr val="accent1">
                    <a:lumMod val="75000"/>
                  </a:schemeClr>
                </a:solidFill>
                <a:latin typeface="Times New Roman" panose="02020603050405020304" pitchFamily="18" charset="0"/>
                <a:cs typeface="Times New Roman" panose="02020603050405020304" pitchFamily="18" charset="0"/>
                <a:sym typeface="+mn-ea"/>
              </a:rPr>
              <a:t>Tech</a:t>
            </a:r>
            <a:r>
              <a:rPr lang="en-US" altLang="en-IN" sz="2400" dirty="0">
                <a:solidFill>
                  <a:schemeClr val="accent1">
                    <a:lumMod val="75000"/>
                  </a:schemeClr>
                </a:solidFill>
                <a:latin typeface="Times New Roman" panose="02020603050405020304" pitchFamily="18" charset="0"/>
                <a:cs typeface="Times New Roman" panose="02020603050405020304" pitchFamily="18" charset="0"/>
                <a:sym typeface="+mn-ea"/>
              </a:rPr>
              <a:t>.</a:t>
            </a:r>
            <a:endParaRPr lang="en-IN" sz="2400" dirty="0">
              <a:solidFill>
                <a:schemeClr val="accent1">
                  <a:lumMod val="75000"/>
                </a:schemeClr>
              </a:solidFill>
              <a:latin typeface="Times New Roman" panose="02020603050405020304" pitchFamily="18" charset="0"/>
              <a:cs typeface="Times New Roman" panose="02020603050405020304" pitchFamily="18" charset="0"/>
            </a:endParaRPr>
          </a:p>
          <a:p>
            <a:r>
              <a:rPr lang="en-IN" sz="2000" dirty="0">
                <a:solidFill>
                  <a:schemeClr val="accent1">
                    <a:lumMod val="75000"/>
                  </a:schemeClr>
                </a:solidFill>
                <a:latin typeface="Times New Roman" panose="02020603050405020304" pitchFamily="18" charset="0"/>
                <a:cs typeface="Times New Roman" panose="02020603050405020304" pitchFamily="18" charset="0"/>
              </a:rPr>
              <a:t>Assistant Professor.</a:t>
            </a:r>
          </a:p>
          <a:p>
            <a:r>
              <a:rPr lang="en-IN" sz="2400" dirty="0">
                <a:solidFill>
                  <a:schemeClr val="tx1"/>
                </a:solidFill>
                <a:latin typeface="Times New Roman" panose="02020603050405020304" pitchFamily="18" charset="0"/>
                <a:cs typeface="Times New Roman" panose="02020603050405020304" pitchFamily="18" charset="0"/>
              </a:rPr>
              <a:t>Batch No: </a:t>
            </a:r>
            <a:r>
              <a:rPr lang="en-IN" sz="2400" b="1" dirty="0">
                <a:solidFill>
                  <a:schemeClr val="accent6">
                    <a:lumMod val="50000"/>
                  </a:schemeClr>
                </a:solidFill>
                <a:latin typeface="Times New Roman" panose="02020603050405020304" pitchFamily="18" charset="0"/>
                <a:cs typeface="Times New Roman" panose="02020603050405020304" pitchFamily="18" charset="0"/>
              </a:rPr>
              <a:t>A 01</a:t>
            </a:r>
          </a:p>
          <a:p>
            <a:r>
              <a:rPr lang="en-IN" sz="2000" dirty="0">
                <a:solidFill>
                  <a:schemeClr val="tx1"/>
                </a:solidFill>
                <a:latin typeface="Times New Roman" panose="02020603050405020304" pitchFamily="18" charset="0"/>
                <a:cs typeface="Times New Roman" panose="02020603050405020304" pitchFamily="18" charset="0"/>
              </a:rPr>
              <a:t>Project Associates :</a:t>
            </a:r>
          </a:p>
          <a:p>
            <a:r>
              <a:rPr lang="en-IN" sz="2000" dirty="0">
                <a:solidFill>
                  <a:schemeClr val="tx1"/>
                </a:solidFill>
                <a:latin typeface="Times New Roman" panose="02020603050405020304" pitchFamily="18" charset="0"/>
                <a:cs typeface="Times New Roman" panose="02020603050405020304" pitchFamily="18" charset="0"/>
                <a:sym typeface="+mn-ea"/>
              </a:rPr>
              <a:t>  J. Chandravathi     – 219Y1A0456</a:t>
            </a:r>
            <a:endParaRPr lang="en-IN" sz="2000" dirty="0">
              <a:solidFill>
                <a:schemeClr val="tx1"/>
              </a:solidFill>
              <a:latin typeface="Times New Roman" panose="02020603050405020304" pitchFamily="18" charset="0"/>
              <a:cs typeface="Times New Roman" panose="02020603050405020304" pitchFamily="18" charset="0"/>
            </a:endParaRPr>
          </a:p>
          <a:p>
            <a:r>
              <a:rPr lang="en-IN" sz="2000" dirty="0">
                <a:solidFill>
                  <a:schemeClr val="tx1"/>
                </a:solidFill>
                <a:latin typeface="Times New Roman" panose="02020603050405020304" pitchFamily="18" charset="0"/>
                <a:cs typeface="Times New Roman" panose="02020603050405020304" pitchFamily="18" charset="0"/>
                <a:sym typeface="+mn-ea"/>
              </a:rPr>
              <a:t> B. SaiKiran           – 219Y1A0411</a:t>
            </a:r>
            <a:endParaRPr lang="en-IN" sz="2000" dirty="0">
              <a:solidFill>
                <a:schemeClr val="tx1"/>
              </a:solidFill>
              <a:latin typeface="Times New Roman" panose="02020603050405020304" pitchFamily="18" charset="0"/>
              <a:cs typeface="Times New Roman" panose="02020603050405020304" pitchFamily="18" charset="0"/>
            </a:endParaRPr>
          </a:p>
          <a:p>
            <a:r>
              <a:rPr lang="en-IN" sz="2000" dirty="0">
                <a:solidFill>
                  <a:schemeClr val="tx1"/>
                </a:solidFill>
                <a:latin typeface="Times New Roman" panose="02020603050405020304" pitchFamily="18" charset="0"/>
                <a:cs typeface="Times New Roman" panose="02020603050405020304" pitchFamily="18" charset="0"/>
                <a:sym typeface="+mn-ea"/>
              </a:rPr>
              <a:t> C. Lavanya           – 219Y1A0430</a:t>
            </a:r>
            <a:endParaRPr lang="en-IN" sz="2000" dirty="0">
              <a:solidFill>
                <a:schemeClr val="tx1"/>
              </a:solidFill>
              <a:latin typeface="Times New Roman" panose="02020603050405020304" pitchFamily="18" charset="0"/>
              <a:cs typeface="Times New Roman" panose="02020603050405020304" pitchFamily="18" charset="0"/>
            </a:endParaRPr>
          </a:p>
          <a:p>
            <a:r>
              <a:rPr lang="en-IN" sz="2000" dirty="0">
                <a:solidFill>
                  <a:schemeClr val="tx1"/>
                </a:solidFill>
                <a:latin typeface="Times New Roman" panose="02020603050405020304" pitchFamily="18" charset="0"/>
                <a:cs typeface="Times New Roman" panose="02020603050405020304" pitchFamily="18" charset="0"/>
                <a:sym typeface="+mn-ea"/>
              </a:rPr>
              <a:t> C. Akhil                – 219Y1A0433</a:t>
            </a:r>
            <a:endParaRPr lang="en-IN" sz="2000" dirty="0">
              <a:solidFill>
                <a:schemeClr val="tx1"/>
              </a:solidFill>
              <a:latin typeface="Times New Roman" panose="02020603050405020304" pitchFamily="18" charset="0"/>
              <a:cs typeface="Times New Roman" panose="02020603050405020304" pitchFamily="18" charset="0"/>
            </a:endParaRPr>
          </a:p>
          <a:p>
            <a:r>
              <a:rPr lang="en-IN" sz="2000" dirty="0">
                <a:solidFill>
                  <a:schemeClr val="tx1"/>
                </a:solidFill>
                <a:latin typeface="Times New Roman" panose="02020603050405020304" pitchFamily="18" charset="0"/>
                <a:cs typeface="Times New Roman" panose="02020603050405020304" pitchFamily="18" charset="0"/>
                <a:sym typeface="+mn-ea"/>
              </a:rPr>
              <a:t> C. KishoreKumar – 219Y1A0429</a:t>
            </a:r>
            <a:endParaRPr lang="en-IN" sz="2000" dirty="0">
              <a:solidFill>
                <a:schemeClr val="tx1"/>
              </a:solidFill>
              <a:latin typeface="Times New Roman" panose="02020603050405020304" pitchFamily="18" charset="0"/>
              <a:cs typeface="Times New Roman" panose="02020603050405020304" pitchFamily="18" charset="0"/>
            </a:endParaRPr>
          </a:p>
          <a:p>
            <a:r>
              <a:rPr lang="en-IN" sz="2600" b="1" dirty="0">
                <a:solidFill>
                  <a:srgbClr val="7030A0"/>
                </a:solidFill>
                <a:latin typeface="Times New Roman" panose="02020603050405020304" pitchFamily="18" charset="0"/>
                <a:cs typeface="Times New Roman" panose="02020603050405020304" pitchFamily="18" charset="0"/>
              </a:rPr>
              <a:t>Department of Electronics and Communication Engineering</a:t>
            </a:r>
          </a:p>
          <a:p>
            <a:r>
              <a:rPr lang="en-IN" sz="2600" dirty="0">
                <a:solidFill>
                  <a:schemeClr val="tx1"/>
                </a:solidFill>
                <a:latin typeface="Times New Roman" panose="02020603050405020304" pitchFamily="18" charset="0"/>
                <a:cs typeface="Times New Roman" panose="02020603050405020304" pitchFamily="18" charset="0"/>
              </a:rPr>
              <a:t>2024-2025</a:t>
            </a:r>
          </a:p>
          <a:p>
            <a:endParaRPr lang="en-IN" sz="2400" dirty="0">
              <a:solidFill>
                <a:schemeClr val="tx1"/>
              </a:solidFill>
              <a:latin typeface="Times New Roman" panose="02020603050405020304" pitchFamily="18" charset="0"/>
              <a:cs typeface="Times New Roman" panose="02020603050405020304" pitchFamily="18" charset="0"/>
            </a:endParaRPr>
          </a:p>
          <a:p>
            <a:endParaRPr lang="en-IN" sz="2400" dirty="0">
              <a:solidFill>
                <a:schemeClr val="tx1"/>
              </a:solidFill>
              <a:latin typeface="Times New Roman" panose="02020603050405020304" pitchFamily="18" charset="0"/>
              <a:cs typeface="Times New Roman" panose="02020603050405020304" pitchFamily="18" charset="0"/>
            </a:endParaRPr>
          </a:p>
          <a:p>
            <a:endParaRPr lang="en-IN" sz="2400" b="1" dirty="0">
              <a:solidFill>
                <a:schemeClr val="tx1"/>
              </a:solidFill>
              <a:latin typeface="Times New Roman" panose="02020603050405020304" pitchFamily="18" charset="0"/>
              <a:cs typeface="Times New Roman" panose="02020603050405020304" pitchFamily="18" charset="0"/>
            </a:endParaRPr>
          </a:p>
          <a:p>
            <a:endParaRPr lang="en-IN" sz="2400" dirty="0">
              <a:solidFill>
                <a:schemeClr val="tx1"/>
              </a:solidFill>
              <a:latin typeface="Times New Roman" panose="02020603050405020304" pitchFamily="18" charset="0"/>
              <a:cs typeface="Times New Roman" panose="02020603050405020304"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95" y="0"/>
            <a:ext cx="9149996" cy="14285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solidFill>
                  <a:schemeClr val="accent6"/>
                </a:solidFill>
                <a:latin typeface="Times New Roman" panose="02020603050405020304" pitchFamily="18" charset="0"/>
                <a:cs typeface="Times New Roman" panose="02020603050405020304" pitchFamily="18" charset="0"/>
                <a:sym typeface="+mn-ea"/>
              </a:rPr>
              <a:t>Abstract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417638"/>
            <a:ext cx="8229600" cy="4708525"/>
          </a:xfrm>
        </p:spPr>
        <p:txBody>
          <a:bodyPr>
            <a:noAutofit/>
          </a:bodyPr>
          <a:lstStyle/>
          <a:p>
            <a:pPr algn="just"/>
            <a:r>
              <a:rPr lang="en-US" sz="2000" dirty="0">
                <a:latin typeface="Times New Roman" panose="02020603050405020304" pitchFamily="18" charset="0"/>
                <a:cs typeface="Times New Roman" panose="02020603050405020304" pitchFamily="18" charset="0"/>
              </a:rPr>
              <a:t>This work focuses on the design and fabrication of a rectangular microstrip patch antenna employing an inset feed for 5G applications, utilizing an FR4 epoxy substrate. </a:t>
            </a:r>
          </a:p>
          <a:p>
            <a:pPr algn="just"/>
            <a:r>
              <a:rPr lang="en-US" sz="2000" dirty="0">
                <a:latin typeface="Times New Roman" panose="02020603050405020304" pitchFamily="18" charset="0"/>
                <a:cs typeface="Times New Roman" panose="02020603050405020304" pitchFamily="18" charset="0"/>
              </a:rPr>
              <a:t>The antenna is engineered to function at 27 GHz and is fine-tuned to achieve high gain and efficiency. Simulations reveal a gain of 5.29 dB and an efficiency of 78.85%.</a:t>
            </a:r>
          </a:p>
          <a:p>
            <a:pPr algn="just"/>
            <a:r>
              <a:rPr lang="en-US" sz="2000" dirty="0">
                <a:latin typeface="Times New Roman" panose="02020603050405020304" pitchFamily="18" charset="0"/>
                <a:cs typeface="Times New Roman" panose="02020603050405020304" pitchFamily="18" charset="0"/>
              </a:rPr>
              <a:t>The findings are compared with prior studies, emphasizing the balance between gain, efficiency and the choice of substrate material.</a:t>
            </a:r>
          </a:p>
          <a:p>
            <a:pPr algn="just"/>
            <a:r>
              <a:rPr lang="en-IN" sz="2000" dirty="0">
                <a:effectLst/>
                <a:latin typeface="Times New Roman" panose="02020603050405020304" pitchFamily="18" charset="0"/>
                <a:ea typeface="Times New Roman" panose="02020603050405020304" pitchFamily="18" charset="0"/>
              </a:rPr>
              <a:t>The use of an inset feed technique contributes to improved impedance matching, reduced reflection coefficient, and enhanced current distribution across the patch, thereby boosting overall radiation efficiency.</a:t>
            </a:r>
          </a:p>
          <a:p>
            <a:pPr algn="just"/>
            <a:r>
              <a:rPr lang="en-IN" sz="2000" dirty="0">
                <a:effectLst/>
                <a:latin typeface="Times New Roman" panose="02020603050405020304" pitchFamily="18" charset="0"/>
                <a:ea typeface="Times New Roman" panose="02020603050405020304" pitchFamily="18" charset="0"/>
              </a:rPr>
              <a:t>While this work is currently limited to the design and simulation phase, the results indicate that the proposed antenna design holds significant potential for practical 5G applications.</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a:solidFill>
                  <a:schemeClr val="accent6"/>
                </a:solidFill>
                <a:latin typeface="Times New Roman" panose="02020603050405020304" pitchFamily="18" charset="0"/>
                <a:cs typeface="Times New Roman" panose="02020603050405020304" pitchFamily="18" charset="0"/>
              </a:rPr>
              <a:t>Objective of the project work</a:t>
            </a:r>
            <a:br>
              <a:rPr lang="en-US" sz="3600" dirty="0">
                <a:solidFill>
                  <a:schemeClr val="accent6"/>
                </a:solidFill>
                <a:latin typeface="Times New Roman" panose="02020603050405020304" pitchFamily="18" charset="0"/>
                <a:cs typeface="Times New Roman" panose="02020603050405020304" pitchFamily="18" charset="0"/>
              </a:rPr>
            </a:br>
            <a:endParaRPr lang="en-US" sz="3600" dirty="0">
              <a:solidFill>
                <a:schemeClr val="accent6"/>
              </a:solidFill>
            </a:endParaRPr>
          </a:p>
        </p:txBody>
      </p:sp>
      <p:sp>
        <p:nvSpPr>
          <p:cNvPr id="3" name="Content Placeholder 2"/>
          <p:cNvSpPr>
            <a:spLocks noGrp="1"/>
          </p:cNvSpPr>
          <p:nvPr>
            <p:ph idx="1"/>
          </p:nvPr>
        </p:nvSpPr>
        <p:spPr>
          <a:xfrm>
            <a:off x="457200" y="980728"/>
            <a:ext cx="8229600" cy="5145435"/>
          </a:xfrm>
        </p:spPr>
        <p:txBody>
          <a:bodyPr>
            <a:normAutofit/>
          </a:bodyPr>
          <a:lstStyle/>
          <a:p>
            <a:pPr algn="just"/>
            <a:r>
              <a:rPr lang="en-US" sz="2000" dirty="0">
                <a:latin typeface="Times New Roman" panose="02020603050405020304" pitchFamily="18" charset="0"/>
                <a:cs typeface="Times New Roman" panose="02020603050405020304" pitchFamily="18" charset="0"/>
              </a:rPr>
              <a:t>The objective of this project is to design, simulate and fabricate a rectangular microstrip patch antenna tailored for 5G wireless communication applications using </a:t>
            </a:r>
            <a:r>
              <a:rPr lang="en-US" sz="2000" b="1" dirty="0">
                <a:latin typeface="Times New Roman" panose="02020603050405020304" pitchFamily="18" charset="0"/>
                <a:cs typeface="Times New Roman" panose="02020603050405020304" pitchFamily="18" charset="0"/>
              </a:rPr>
              <a:t>ANSYS HFSS</a:t>
            </a:r>
            <a:r>
              <a:rPr lang="en-US" sz="2000" dirty="0">
                <a:latin typeface="Times New Roman" panose="02020603050405020304" pitchFamily="18" charset="0"/>
                <a:cs typeface="Times New Roman" panose="02020603050405020304" pitchFamily="18" charset="0"/>
              </a:rPr>
              <a:t>. The work focuses on:</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Developing a compact and efficient antenna structure suitable for 5G integration.</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Performing simulation-based analysis to evaluate parameters such as return loss, bandwidth, gain, radiation efficiency and VSWR.</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design process emphasizes minimizing signal reflection, maximizing radiation efficiency, and achieving wideband characteristics suitable for high-speed 5G networks.</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After simulation, the antenna is fabricated and tested to validate the theoretical results and assess its practical applicability.</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work not only enhances understanding of advanced antenna design but also contributes to the development of </a:t>
            </a:r>
            <a:r>
              <a:rPr lang="en-US" sz="2000" dirty="0"/>
              <a:t>reliable hardware solutions for modern wireless systems</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a:solidFill>
                  <a:schemeClr val="accent6"/>
                </a:solidFill>
                <a:latin typeface="Times New Roman" panose="02020603050405020304" pitchFamily="18" charset="0"/>
                <a:cs typeface="Times New Roman" panose="02020603050405020304" pitchFamily="18" charset="0"/>
              </a:rPr>
              <a:t>Brief description of the work</a:t>
            </a:r>
            <a:br>
              <a:rPr lang="en-US" sz="3600" dirty="0">
                <a:solidFill>
                  <a:schemeClr val="accent6"/>
                </a:solidFill>
                <a:latin typeface="Times New Roman" panose="02020603050405020304" pitchFamily="18" charset="0"/>
                <a:cs typeface="Times New Roman" panose="02020603050405020304" pitchFamily="18" charset="0"/>
              </a:rPr>
            </a:br>
            <a:endParaRPr lang="en-US" sz="3600" dirty="0">
              <a:solidFill>
                <a:schemeClr val="accent6"/>
              </a:solidFill>
            </a:endParaRPr>
          </a:p>
        </p:txBody>
      </p:sp>
      <p:sp>
        <p:nvSpPr>
          <p:cNvPr id="3" name="Content Placeholder 2"/>
          <p:cNvSpPr>
            <a:spLocks noGrp="1"/>
          </p:cNvSpPr>
          <p:nvPr>
            <p:ph idx="1"/>
          </p:nvPr>
        </p:nvSpPr>
        <p:spPr>
          <a:xfrm>
            <a:off x="457200" y="1124744"/>
            <a:ext cx="8363272" cy="5001419"/>
          </a:xfrm>
        </p:spPr>
        <p:txBody>
          <a:bodyPr>
            <a:normAutofit/>
          </a:bodyPr>
          <a:lstStyle/>
          <a:p>
            <a:pPr algn="just"/>
            <a:r>
              <a:rPr lang="en-US" sz="2000" dirty="0">
                <a:latin typeface="Times New Roman" panose="02020603050405020304" pitchFamily="18" charset="0"/>
                <a:cs typeface="Times New Roman" panose="02020603050405020304" pitchFamily="18" charset="0"/>
              </a:rPr>
              <a:t>In this project, the rectangular microstrip patch antenna is designed to operate 27GHz, which lies within the mm Waveband (24.25-29.5GHz</a:t>
            </a:r>
            <a:r>
              <a:rPr lang="en-US" sz="2000" b="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part of 5G Frequency Range 2.</a:t>
            </a:r>
          </a:p>
          <a:p>
            <a:pPr algn="just"/>
            <a:r>
              <a:rPr lang="en-US" sz="2000" dirty="0">
                <a:latin typeface="Times New Roman" panose="02020603050405020304" pitchFamily="18" charset="0"/>
                <a:cs typeface="Times New Roman" panose="02020603050405020304" pitchFamily="18" charset="0"/>
              </a:rPr>
              <a:t>Selected suitable substrate material for 27 GHz operation.</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Calculated antenna dimensions using standard design equations.</a:t>
            </a:r>
          </a:p>
          <a:p>
            <a:pPr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Designed and simulated the rectangular microstrip patch antenna using </a:t>
            </a:r>
            <a:r>
              <a:rPr lang="en-US" sz="2000" b="1" dirty="0">
                <a:latin typeface="Times New Roman" panose="02020603050405020304" pitchFamily="18" charset="0"/>
                <a:cs typeface="Times New Roman" panose="02020603050405020304" pitchFamily="18" charset="0"/>
              </a:rPr>
              <a:t>ANSYS HFSS</a:t>
            </a:r>
            <a:r>
              <a:rPr lang="en-US" sz="2000" dirty="0">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r>
              <a:rPr lang="en-US" sz="2000" dirty="0"/>
              <a:t>Analyzed key performance parameters like Return Loss (S11), VSWR, Gain, Band width.</a:t>
            </a:r>
          </a:p>
          <a:p>
            <a:pPr algn="just">
              <a:buFont typeface="Arial" panose="020B0604020202020204" pitchFamily="34" charset="0"/>
              <a:buChar char="•"/>
            </a:pPr>
            <a:r>
              <a:rPr lang="en-US" sz="2000" dirty="0"/>
              <a:t>Optimized the design through simulation.</a:t>
            </a:r>
          </a:p>
          <a:p>
            <a:endParaRPr lang="en-US" sz="2000" dirty="0">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F8CA8-5B33-EDA1-D237-026EAAC91917}"/>
              </a:ext>
            </a:extLst>
          </p:cNvPr>
          <p:cNvSpPr>
            <a:spLocks noGrp="1"/>
          </p:cNvSpPr>
          <p:nvPr>
            <p:ph type="title"/>
          </p:nvPr>
        </p:nvSpPr>
        <p:spPr/>
        <p:txBody>
          <a:bodyPr>
            <a:normAutofit/>
          </a:bodyPr>
          <a:lstStyle/>
          <a:p>
            <a:r>
              <a:rPr lang="en-US" sz="3200" dirty="0">
                <a:solidFill>
                  <a:schemeClr val="accent6"/>
                </a:solidFill>
                <a:latin typeface="Times New Roman" panose="02020603050405020304" pitchFamily="18" charset="0"/>
                <a:cs typeface="Times New Roman" panose="02020603050405020304" pitchFamily="18" charset="0"/>
              </a:rPr>
              <a:t>Need of the project work</a:t>
            </a:r>
            <a:endParaRPr lang="en-IN" sz="3200" dirty="0"/>
          </a:p>
        </p:txBody>
      </p:sp>
      <p:sp>
        <p:nvSpPr>
          <p:cNvPr id="3" name="Content Placeholder 2">
            <a:extLst>
              <a:ext uri="{FF2B5EF4-FFF2-40B4-BE49-F238E27FC236}">
                <a16:creationId xmlns:a16="http://schemas.microsoft.com/office/drawing/2014/main" id="{5BA5B794-7C5F-51FE-CB38-5DFF59D66556}"/>
              </a:ext>
            </a:extLst>
          </p:cNvPr>
          <p:cNvSpPr>
            <a:spLocks noGrp="1"/>
          </p:cNvSpPr>
          <p:nvPr>
            <p:ph idx="1"/>
          </p:nvPr>
        </p:nvSpPr>
        <p:spPr/>
        <p:txBody>
          <a:bodyPr>
            <a:normAutofit fontScale="92500" lnSpcReduction="10000"/>
          </a:bodyPr>
          <a:lstStyle/>
          <a:p>
            <a:pPr algn="just">
              <a:lnSpc>
                <a:spcPct val="12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rise of 5G demands high-performance antennas operating at </a:t>
            </a:r>
            <a:r>
              <a:rPr lang="en-US" sz="2200" dirty="0" err="1">
                <a:latin typeface="Times New Roman" panose="02020603050405020304" pitchFamily="18" charset="0"/>
                <a:cs typeface="Times New Roman" panose="02020603050405020304" pitchFamily="18" charset="0"/>
              </a:rPr>
              <a:t>mmWave</a:t>
            </a:r>
            <a:r>
              <a:rPr lang="en-US" sz="2200" dirty="0">
                <a:latin typeface="Times New Roman" panose="02020603050405020304" pitchFamily="18" charset="0"/>
                <a:cs typeface="Times New Roman" panose="02020603050405020304" pitchFamily="18" charset="0"/>
              </a:rPr>
              <a:t> frequencies like 27 GHz.</a:t>
            </a:r>
          </a:p>
          <a:p>
            <a:pPr algn="just">
              <a:lnSpc>
                <a:spcPct val="12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Conventional antennas face challenges at high frequencies, such as poor efficiency and high return loss.</a:t>
            </a:r>
          </a:p>
          <a:p>
            <a:pPr algn="just">
              <a:lnSpc>
                <a:spcPct val="12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A microstrip patch antenna offers a compact, low-cost, and efficient solution for 5G integration.</a:t>
            </a:r>
          </a:p>
          <a:p>
            <a:pPr algn="just">
              <a:lnSpc>
                <a:spcPct val="12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Simulation using ANSYS HFSS ensures accurate performance analysis and design optimization.</a:t>
            </a:r>
          </a:p>
          <a:p>
            <a:pPr algn="just">
              <a:lnSpc>
                <a:spcPct val="12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Bridging simulation and real-world performance through fabrication validates design effectiveness.</a:t>
            </a:r>
          </a:p>
          <a:p>
            <a:pPr algn="just">
              <a:lnSpc>
                <a:spcPct val="12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Supports development of compact, high-gain antennas critical for next-gen wireless systems.</a:t>
            </a:r>
          </a:p>
          <a:p>
            <a:endParaRPr lang="en-IN" dirty="0"/>
          </a:p>
        </p:txBody>
      </p:sp>
    </p:spTree>
    <p:extLst>
      <p:ext uri="{BB962C8B-B14F-4D97-AF65-F5344CB8AC3E}">
        <p14:creationId xmlns:p14="http://schemas.microsoft.com/office/powerpoint/2010/main" val="5990838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075240" cy="562074"/>
          </a:xfrm>
        </p:spPr>
        <p:txBody>
          <a:bodyPr>
            <a:normAutofit fontScale="90000"/>
          </a:bodyPr>
          <a:lstStyle/>
          <a:p>
            <a:r>
              <a:rPr lang="en-US" sz="3600" dirty="0">
                <a:solidFill>
                  <a:schemeClr val="accent6"/>
                </a:solidFill>
                <a:latin typeface="Times New Roman" panose="02020603050405020304" pitchFamily="18" charset="0"/>
                <a:cs typeface="Times New Roman" panose="02020603050405020304" pitchFamily="18" charset="0"/>
              </a:rPr>
              <a:t>Mathematical Equations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457200" y="836712"/>
                <a:ext cx="8147248" cy="5289451"/>
              </a:xfrm>
            </p:spPr>
            <p:txBody>
              <a:bodyPr>
                <a:normAutofit lnSpcReduction="10000"/>
              </a:bodyPr>
              <a:lstStyle/>
              <a:p>
                <a:r>
                  <a:rPr lang="en-US" sz="2000" dirty="0">
                    <a:latin typeface="Times New Roman" panose="02020603050405020304" pitchFamily="18" charset="0"/>
                    <a:cs typeface="Times New Roman" panose="02020603050405020304" pitchFamily="18" charset="0"/>
                  </a:rPr>
                  <a:t>To Calculate the width of the patch (W):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a:t>
                </a:r>
                <a14:m>
                  <m:oMath xmlns:m="http://schemas.openxmlformats.org/officeDocument/2006/math">
                    <m:r>
                      <a:rPr lang="en-IN" sz="2000" i="1" smtClean="0">
                        <a:effectLst/>
                        <a:latin typeface="Cambria Math" panose="02040503050406030204" pitchFamily="18" charset="0"/>
                        <a:ea typeface="Times New Roman" panose="02020603050405020304" pitchFamily="18" charset="0"/>
                        <a:cs typeface="Times New Roman" panose="02020603050405020304" pitchFamily="18" charset="0"/>
                      </a:rPr>
                      <m:t>𝑊</m:t>
                    </m:r>
                    <m:r>
                      <a:rPr lang="en-IN" sz="2000" i="1" smtClean="0">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IN"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IN" sz="2000" i="1">
                            <a:effectLst/>
                            <a:latin typeface="Cambria Math" panose="02040503050406030204" pitchFamily="18" charset="0"/>
                            <a:ea typeface="Times New Roman" panose="02020603050405020304" pitchFamily="18" charset="0"/>
                            <a:cs typeface="Times New Roman" panose="02020603050405020304" pitchFamily="18" charset="0"/>
                          </a:rPr>
                          <m:t>𝐶</m:t>
                        </m:r>
                      </m:num>
                      <m:den>
                        <m:r>
                          <a:rPr lang="en-IN" sz="2000" i="1">
                            <a:effectLst/>
                            <a:latin typeface="Cambria Math" panose="02040503050406030204" pitchFamily="18" charset="0"/>
                            <a:ea typeface="Times New Roman" panose="02020603050405020304" pitchFamily="18" charset="0"/>
                            <a:cs typeface="Times New Roman" panose="02020603050405020304" pitchFamily="18" charset="0"/>
                          </a:rPr>
                          <m:t>2</m:t>
                        </m:r>
                        <m:r>
                          <a:rPr lang="en-IN" sz="2000" i="1">
                            <a:effectLst/>
                            <a:latin typeface="Cambria Math" panose="02040503050406030204" pitchFamily="18" charset="0"/>
                            <a:ea typeface="Times New Roman" panose="02020603050405020304" pitchFamily="18" charset="0"/>
                            <a:cs typeface="Times New Roman" panose="02020603050405020304" pitchFamily="18" charset="0"/>
                          </a:rPr>
                          <m:t>𝑓𝑟</m:t>
                        </m:r>
                        <m:r>
                          <a:rPr lang="en-IN" sz="2000" i="1">
                            <a:effectLst/>
                            <a:latin typeface="Cambria Math" panose="02040503050406030204" pitchFamily="18" charset="0"/>
                            <a:ea typeface="Times New Roman" panose="02020603050405020304" pitchFamily="18" charset="0"/>
                            <a:cs typeface="Times New Roman" panose="02020603050405020304" pitchFamily="18" charset="0"/>
                          </a:rPr>
                          <m:t> </m:t>
                        </m:r>
                      </m:den>
                    </m:f>
                    <m:r>
                      <a:rPr lang="en-IN" sz="20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IN"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IN" sz="2000" i="1">
                            <a:effectLst/>
                            <a:latin typeface="Cambria Math" panose="02040503050406030204" pitchFamily="18" charset="0"/>
                            <a:ea typeface="Times New Roman" panose="02020603050405020304" pitchFamily="18" charset="0"/>
                            <a:cs typeface="Times New Roman" panose="02020603050405020304" pitchFamily="18" charset="0"/>
                          </a:rPr>
                          <m:t>2</m:t>
                        </m:r>
                      </m:num>
                      <m:den>
                        <m:sSub>
                          <m:sSubPr>
                            <m:ctrlPr>
                              <a:rPr lang="en-IN"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IN" sz="2000" i="1">
                                <a:effectLst/>
                                <a:latin typeface="Cambria Math" panose="02040503050406030204" pitchFamily="18" charset="0"/>
                                <a:ea typeface="Times New Roman" panose="02020603050405020304" pitchFamily="18" charset="0"/>
                                <a:cs typeface="Times New Roman" panose="02020603050405020304" pitchFamily="18" charset="0"/>
                              </a:rPr>
                              <m:t>ℰ</m:t>
                            </m:r>
                          </m:e>
                          <m:sub>
                            <m:r>
                              <a:rPr lang="en-IN" sz="2000" i="1">
                                <a:effectLst/>
                                <a:latin typeface="Cambria Math" panose="02040503050406030204" pitchFamily="18" charset="0"/>
                                <a:ea typeface="Times New Roman" panose="02020603050405020304" pitchFamily="18" charset="0"/>
                                <a:cs typeface="Times New Roman" panose="02020603050405020304" pitchFamily="18" charset="0"/>
                              </a:rPr>
                              <m:t>𝑟</m:t>
                            </m:r>
                          </m:sub>
                        </m:sSub>
                        <m:r>
                          <a:rPr lang="en-IN" sz="2000" i="1">
                            <a:effectLst/>
                            <a:latin typeface="Cambria Math" panose="02040503050406030204" pitchFamily="18" charset="0"/>
                            <a:ea typeface="Times New Roman" panose="02020603050405020304" pitchFamily="18" charset="0"/>
                            <a:cs typeface="Times New Roman" panose="02020603050405020304" pitchFamily="18" charset="0"/>
                          </a:rPr>
                          <m:t>+1</m:t>
                        </m:r>
                      </m:den>
                    </m:f>
                    <m:r>
                      <a:rPr lang="en-IN" sz="2000" i="1">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IN" sz="2000" dirty="0">
                    <a:effectLst/>
                    <a:latin typeface="Times New Roman" panose="02020603050405020304" pitchFamily="18" charset="0"/>
                    <a:ea typeface="Times New Roman" panose="02020603050405020304" pitchFamily="18" charset="0"/>
                  </a:rPr>
                  <a:t> </a:t>
                </a:r>
              </a:p>
              <a:p>
                <a:r>
                  <a:rPr lang="en-IN" sz="2000" dirty="0">
                    <a:latin typeface="Times New Roman" panose="02020603050405020304" pitchFamily="18" charset="0"/>
                    <a:ea typeface="Times New Roman" panose="02020603050405020304" pitchFamily="18" charset="0"/>
                  </a:rPr>
                  <a:t>To calculate the length of the patch: </a:t>
                </a:r>
                <a:r>
                  <a:rPr lang="en-IN" sz="2000" i="1"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i="1" kern="100" dirty="0">
                    <a:effectLst/>
                    <a:latin typeface="Cambria Math" panose="02040503050406030204" pitchFamily="18" charset="0"/>
                    <a:ea typeface="Calibri" panose="020F0502020204030204" pitchFamily="34" charset="0"/>
                    <a:cs typeface="Times New Roman" panose="02020603050405020304" pitchFamily="18" charset="0"/>
                  </a:rPr>
                  <a:t> </a:t>
                </a:r>
                <a14:m>
                  <m:oMath xmlns:m="http://schemas.openxmlformats.org/officeDocument/2006/math">
                    <m:f>
                      <m:fPr>
                        <m:ctrlPr>
                          <a:rPr lang="en-IN" sz="2000" i="1" kern="100">
                            <a:effectLst/>
                            <a:latin typeface="Cambria Math" panose="02040503050406030204" pitchFamily="18" charset="0"/>
                            <a:ea typeface="Calibri" panose="020F0502020204030204" pitchFamily="34" charset="0"/>
                            <a:cs typeface="Times New Roman" panose="02020603050405020304" pitchFamily="18" charset="0"/>
                          </a:rPr>
                        </m:ctrlPr>
                      </m:fPr>
                      <m:num>
                        <m:r>
                          <a:rPr lang="en-IN" sz="2000" b="0" i="1" kern="100">
                            <a:effectLst/>
                            <a:latin typeface="Cambria Math" panose="02040503050406030204" pitchFamily="18" charset="0"/>
                            <a:ea typeface="Calibri" panose="020F0502020204030204" pitchFamily="34" charset="0"/>
                            <a:cs typeface="Times New Roman" panose="02020603050405020304" pitchFamily="18" charset="0"/>
                          </a:rPr>
                          <m:t>𝐶</m:t>
                        </m:r>
                      </m:num>
                      <m:den>
                        <m:r>
                          <a:rPr lang="en-IN" sz="2000" b="0" i="1" kern="100">
                            <a:effectLst/>
                            <a:latin typeface="Cambria Math" panose="02040503050406030204" pitchFamily="18" charset="0"/>
                            <a:ea typeface="Calibri" panose="020F0502020204030204" pitchFamily="34" charset="0"/>
                            <a:cs typeface="Times New Roman" panose="02020603050405020304" pitchFamily="18" charset="0"/>
                          </a:rPr>
                          <m:t>2</m:t>
                        </m:r>
                        <m:r>
                          <a:rPr lang="en-IN" sz="2000" b="0" i="1" kern="100">
                            <a:effectLst/>
                            <a:latin typeface="Cambria Math" panose="02040503050406030204" pitchFamily="18" charset="0"/>
                            <a:ea typeface="Calibri" panose="020F0502020204030204" pitchFamily="34" charset="0"/>
                            <a:cs typeface="Times New Roman" panose="02020603050405020304" pitchFamily="18" charset="0"/>
                          </a:rPr>
                          <m:t>𝑓𝑟</m:t>
                        </m:r>
                        <m:r>
                          <a:rPr lang="en-IN" sz="2000" b="0" i="1" kern="10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20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IN" sz="2000" b="0" i="1" kern="100">
                                <a:effectLst/>
                                <a:latin typeface="Cambria Math" panose="02040503050406030204" pitchFamily="18" charset="0"/>
                                <a:ea typeface="Calibri" panose="020F0502020204030204" pitchFamily="34" charset="0"/>
                                <a:cs typeface="Times New Roman" panose="02020603050405020304" pitchFamily="18" charset="0"/>
                              </a:rPr>
                              <m:t>ℰ</m:t>
                            </m:r>
                          </m:e>
                          <m:sub>
                            <m:r>
                              <a:rPr lang="en-IN" sz="2000" b="0" i="1" kern="100">
                                <a:effectLst/>
                                <a:latin typeface="Cambria Math" panose="02040503050406030204" pitchFamily="18" charset="0"/>
                                <a:ea typeface="Calibri" panose="020F0502020204030204" pitchFamily="34" charset="0"/>
                                <a:cs typeface="Times New Roman" panose="02020603050405020304" pitchFamily="18" charset="0"/>
                              </a:rPr>
                              <m:t>𝑒𝑓𝑓</m:t>
                            </m:r>
                          </m:sub>
                        </m:sSub>
                        <m:r>
                          <a:rPr lang="en-IN" sz="2000" b="0" i="1" kern="100">
                            <a:effectLst/>
                            <a:latin typeface="Cambria Math" panose="02040503050406030204" pitchFamily="18" charset="0"/>
                            <a:ea typeface="Calibri" panose="020F0502020204030204" pitchFamily="34" charset="0"/>
                            <a:cs typeface="Times New Roman" panose="02020603050405020304" pitchFamily="18" charset="0"/>
                          </a:rPr>
                          <m:t> </m:t>
                        </m:r>
                      </m:den>
                    </m:f>
                    <m:r>
                      <a:rPr lang="en-IN" sz="2000" b="0" i="1" kern="100">
                        <a:effectLst/>
                        <a:latin typeface="Cambria Math" panose="02040503050406030204" pitchFamily="18" charset="0"/>
                        <a:ea typeface="Calibri" panose="020F0502020204030204" pitchFamily="34" charset="0"/>
                        <a:cs typeface="Times New Roman" panose="02020603050405020304" pitchFamily="18" charset="0"/>
                      </a:rPr>
                      <m:t>−2∆</m:t>
                    </m:r>
                    <m:r>
                      <a:rPr lang="en-IN" sz="2000" b="0" i="1" kern="100">
                        <a:effectLst/>
                        <a:latin typeface="Cambria Math" panose="02040503050406030204" pitchFamily="18" charset="0"/>
                        <a:ea typeface="Calibri" panose="020F0502020204030204" pitchFamily="34" charset="0"/>
                        <a:cs typeface="Times New Roman" panose="02020603050405020304" pitchFamily="18" charset="0"/>
                      </a:rPr>
                      <m:t>𝐿</m:t>
                    </m:r>
                  </m:oMath>
                </a14:m>
                <a:r>
                  <a:rPr lang="en-IN" sz="2000" i="1" kern="100" dirty="0">
                    <a:effectLst/>
                    <a:latin typeface="Cambria Math" panose="02040503050406030204" pitchFamily="18" charset="0"/>
                    <a:ea typeface="Calibri" panose="020F0502020204030204" pitchFamily="34" charset="0"/>
                    <a:cs typeface="Times New Roman" panose="02020603050405020304" pitchFamily="18" charset="0"/>
                  </a:rPr>
                  <a:t> </a:t>
                </a:r>
                <a:endParaRPr lang="en-IN" sz="2000" dirty="0">
                  <a:effectLst/>
                  <a:latin typeface="Times New Roman" panose="02020603050405020304" pitchFamily="18" charset="0"/>
                  <a:ea typeface="Times New Roman" panose="02020603050405020304" pitchFamily="18" charset="0"/>
                </a:endParaRPr>
              </a:p>
              <a:p>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To calculate effective dielectric coefficient (</a:t>
                </a:r>
                <a14:m>
                  <m:oMath xmlns:m="http://schemas.openxmlformats.org/officeDocument/2006/math">
                    <m:sSub>
                      <m:sSubPr>
                        <m:ctrlPr>
                          <a:rPr lang="en-IN" sz="20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IN" sz="2000" b="0" i="1" kern="100">
                            <a:effectLst/>
                            <a:latin typeface="Cambria Math" panose="02040503050406030204" pitchFamily="18" charset="0"/>
                            <a:ea typeface="Calibri" panose="020F0502020204030204" pitchFamily="34" charset="0"/>
                            <a:cs typeface="Times New Roman" panose="02020603050405020304" pitchFamily="18" charset="0"/>
                          </a:rPr>
                          <m:t>ℇ</m:t>
                        </m:r>
                      </m:e>
                      <m:sub>
                        <m:r>
                          <a:rPr lang="en-IN" sz="2000" b="0" i="1" kern="100">
                            <a:effectLst/>
                            <a:latin typeface="Cambria Math" panose="02040503050406030204" pitchFamily="18" charset="0"/>
                            <a:ea typeface="Calibri" panose="020F0502020204030204" pitchFamily="34" charset="0"/>
                            <a:cs typeface="Times New Roman" panose="02020603050405020304" pitchFamily="18" charset="0"/>
                          </a:rPr>
                          <m:t>𝑒𝑓𝑓</m:t>
                        </m:r>
                      </m:sub>
                    </m:sSub>
                  </m:oMath>
                </a14:m>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a:t>
                </a:r>
              </a:p>
              <a:p>
                <a:pPr marL="0" indent="0">
                  <a:buNone/>
                </a:pPr>
                <a:r>
                  <a:rPr lang="en-IN" sz="2000" kern="100" dirty="0">
                    <a:latin typeface="Times New Roman" panose="02020603050405020304" pitchFamily="18" charset="0"/>
                    <a:ea typeface="Calibri" panose="020F0502020204030204" pitchFamily="34" charset="0"/>
                    <a:cs typeface="Times New Roman" panose="02020603050405020304" pitchFamily="18" charset="0"/>
                  </a:rPr>
                  <a:t>                                        </a:t>
                </a: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sSub>
                      <m:sSubPr>
                        <m:ctrlPr>
                          <a:rPr lang="en-IN" sz="2000" i="1">
                            <a:latin typeface="Cambria Math" panose="02040503050406030204" pitchFamily="18" charset="0"/>
                          </a:rPr>
                        </m:ctrlPr>
                      </m:sSubPr>
                      <m:e>
                        <m:r>
                          <a:rPr lang="en-IN" sz="2000" i="1">
                            <a:latin typeface="Cambria Math" panose="02040503050406030204" pitchFamily="18" charset="0"/>
                          </a:rPr>
                          <m:t>ℇ</m:t>
                        </m:r>
                      </m:e>
                      <m:sub>
                        <m:r>
                          <a:rPr lang="en-IN" sz="2000" i="1">
                            <a:latin typeface="Cambria Math" panose="02040503050406030204" pitchFamily="18" charset="0"/>
                          </a:rPr>
                          <m:t>𝑒𝑓𝑓</m:t>
                        </m:r>
                      </m:sub>
                    </m:sSub>
                    <m:r>
                      <a:rPr lang="en-IN" sz="2000" i="1">
                        <a:latin typeface="Cambria Math" panose="02040503050406030204" pitchFamily="18" charset="0"/>
                      </a:rPr>
                      <m:t>=</m:t>
                    </m:r>
                    <m:f>
                      <m:fPr>
                        <m:ctrlPr>
                          <a:rPr lang="en-IN" sz="2000" i="1">
                            <a:latin typeface="Cambria Math" panose="02040503050406030204" pitchFamily="18" charset="0"/>
                          </a:rPr>
                        </m:ctrlPr>
                      </m:fPr>
                      <m:num>
                        <m:sSub>
                          <m:sSubPr>
                            <m:ctrlPr>
                              <a:rPr lang="en-IN" sz="2000" i="1">
                                <a:latin typeface="Cambria Math" panose="02040503050406030204" pitchFamily="18" charset="0"/>
                              </a:rPr>
                            </m:ctrlPr>
                          </m:sSubPr>
                          <m:e>
                            <m:r>
                              <a:rPr lang="en-IN" sz="2000" i="1">
                                <a:latin typeface="Cambria Math" panose="02040503050406030204" pitchFamily="18" charset="0"/>
                              </a:rPr>
                              <m:t>ℇ</m:t>
                            </m:r>
                          </m:e>
                          <m:sub>
                            <m:r>
                              <a:rPr lang="en-IN" sz="2000" i="1">
                                <a:latin typeface="Cambria Math" panose="02040503050406030204" pitchFamily="18" charset="0"/>
                              </a:rPr>
                              <m:t>𝑟</m:t>
                            </m:r>
                          </m:sub>
                        </m:sSub>
                        <m:r>
                          <a:rPr lang="en-IN" sz="2000" i="1">
                            <a:latin typeface="Cambria Math" panose="02040503050406030204" pitchFamily="18" charset="0"/>
                          </a:rPr>
                          <m:t>+1</m:t>
                        </m:r>
                      </m:num>
                      <m:den>
                        <m:r>
                          <a:rPr lang="en-IN" sz="2000" i="1">
                            <a:latin typeface="Cambria Math" panose="02040503050406030204" pitchFamily="18" charset="0"/>
                          </a:rPr>
                          <m:t>𝑊</m:t>
                        </m:r>
                      </m:den>
                    </m:f>
                  </m:oMath>
                </a14:m>
                <a:r>
                  <a:rPr lang="en-IN" sz="2000" dirty="0">
                    <a:latin typeface="Times New Roman" panose="02020603050405020304" pitchFamily="18" charset="0"/>
                    <a:cs typeface="Times New Roman" panose="02020603050405020304" pitchFamily="18" charset="0"/>
                  </a:rPr>
                  <a:t> +</a:t>
                </a:r>
                <a14:m>
                  <m:oMath xmlns:m="http://schemas.openxmlformats.org/officeDocument/2006/math">
                    <m:f>
                      <m:fPr>
                        <m:ctrlPr>
                          <a:rPr lang="en-IN" sz="2000" i="1">
                            <a:latin typeface="Cambria Math" panose="02040503050406030204" pitchFamily="18" charset="0"/>
                          </a:rPr>
                        </m:ctrlPr>
                      </m:fPr>
                      <m:num>
                        <m:sSub>
                          <m:sSubPr>
                            <m:ctrlPr>
                              <a:rPr lang="en-IN" sz="2000" i="1">
                                <a:latin typeface="Cambria Math" panose="02040503050406030204" pitchFamily="18" charset="0"/>
                              </a:rPr>
                            </m:ctrlPr>
                          </m:sSubPr>
                          <m:e>
                            <m:r>
                              <a:rPr lang="en-IN" sz="2000" i="1">
                                <a:latin typeface="Cambria Math" panose="02040503050406030204" pitchFamily="18" charset="0"/>
                              </a:rPr>
                              <m:t>ℇ</m:t>
                            </m:r>
                          </m:e>
                          <m:sub>
                            <m:r>
                              <a:rPr lang="en-IN" sz="2000" i="1">
                                <a:latin typeface="Cambria Math" panose="02040503050406030204" pitchFamily="18" charset="0"/>
                              </a:rPr>
                              <m:t>𝑟</m:t>
                            </m:r>
                          </m:sub>
                        </m:sSub>
                        <m:r>
                          <a:rPr lang="en-IN" sz="2000" i="1">
                            <a:latin typeface="Cambria Math" panose="02040503050406030204" pitchFamily="18" charset="0"/>
                          </a:rPr>
                          <m:t>−1</m:t>
                        </m:r>
                      </m:num>
                      <m:den>
                        <m:r>
                          <a:rPr lang="en-IN" sz="2000" i="1">
                            <a:latin typeface="Cambria Math" panose="02040503050406030204" pitchFamily="18" charset="0"/>
                          </a:rPr>
                          <m:t>𝑊</m:t>
                        </m:r>
                      </m:den>
                    </m:f>
                    <m:r>
                      <a:rPr lang="en-IN" sz="2000" i="1">
                        <a:latin typeface="Cambria Math" panose="02040503050406030204" pitchFamily="18" charset="0"/>
                      </a:rPr>
                      <m:t> (</m:t>
                    </m:r>
                    <m:sSup>
                      <m:sSupPr>
                        <m:ctrlPr>
                          <a:rPr lang="en-IN" sz="2000" i="1">
                            <a:latin typeface="Cambria Math" panose="02040503050406030204" pitchFamily="18" charset="0"/>
                          </a:rPr>
                        </m:ctrlPr>
                      </m:sSupPr>
                      <m:e>
                        <m:r>
                          <a:rPr lang="en-IN" sz="2000" i="1">
                            <a:latin typeface="Cambria Math" panose="02040503050406030204" pitchFamily="18" charset="0"/>
                          </a:rPr>
                          <m:t>1+</m:t>
                        </m:r>
                        <m:f>
                          <m:fPr>
                            <m:ctrlPr>
                              <a:rPr lang="en-IN" sz="2000" i="1">
                                <a:latin typeface="Cambria Math" panose="02040503050406030204" pitchFamily="18" charset="0"/>
                              </a:rPr>
                            </m:ctrlPr>
                          </m:fPr>
                          <m:num>
                            <m:r>
                              <a:rPr lang="en-IN" sz="2000" i="1">
                                <a:latin typeface="Cambria Math" panose="02040503050406030204" pitchFamily="18" charset="0"/>
                              </a:rPr>
                              <m:t>12</m:t>
                            </m:r>
                            <m:r>
                              <a:rPr lang="en-IN" sz="2000" i="1">
                                <a:latin typeface="Cambria Math" panose="02040503050406030204" pitchFamily="18" charset="0"/>
                              </a:rPr>
                              <m:t>h</m:t>
                            </m:r>
                          </m:num>
                          <m:den>
                            <m:r>
                              <a:rPr lang="en-IN" sz="2000" i="1">
                                <a:latin typeface="Cambria Math" panose="02040503050406030204" pitchFamily="18" charset="0"/>
                              </a:rPr>
                              <m:t>𝑊</m:t>
                            </m:r>
                          </m:den>
                        </m:f>
                        <m:r>
                          <a:rPr lang="en-IN" sz="2000" i="1">
                            <a:latin typeface="Cambria Math" panose="02040503050406030204" pitchFamily="18" charset="0"/>
                          </a:rPr>
                          <m:t>)</m:t>
                        </m:r>
                      </m:e>
                      <m:sup>
                        <m:r>
                          <a:rPr lang="en-IN" sz="2000" i="1">
                            <a:latin typeface="Cambria Math" panose="02040503050406030204" pitchFamily="18" charset="0"/>
                          </a:rPr>
                          <m:t>−1/2</m:t>
                        </m:r>
                      </m:sup>
                    </m:sSup>
                  </m:oMath>
                </a14:m>
                <a:r>
                  <a:rPr lang="en-IN" sz="2000" dirty="0">
                    <a:latin typeface="Times New Roman" panose="02020603050405020304" pitchFamily="18" charset="0"/>
                    <a:cs typeface="Times New Roman" panose="02020603050405020304" pitchFamily="18" charset="0"/>
                  </a:rPr>
                  <a:t> </a:t>
                </a:r>
                <a:r>
                  <a:rPr lang="en-IN" sz="2000" dirty="0">
                    <a:effectLst/>
                    <a:latin typeface="Times New Roman" panose="02020603050405020304" pitchFamily="18" charset="0"/>
                    <a:ea typeface="Times New Roman" panose="02020603050405020304" pitchFamily="18" charset="0"/>
                  </a:rPr>
                  <a:t> </a:t>
                </a:r>
              </a:p>
              <a:p>
                <a:r>
                  <a:rPr lang="en-IN" sz="2000" kern="100" dirty="0">
                    <a:effectLst/>
                    <a:latin typeface="Times New Roman" panose="02020603050405020304" pitchFamily="18" charset="0"/>
                    <a:ea typeface="Times New Roman" panose="02020603050405020304" pitchFamily="18" charset="0"/>
                    <a:cs typeface="Times New Roman" panose="02020603050405020304" pitchFamily="18" charset="0"/>
                  </a:rPr>
                  <a:t>To evaluate the ∆L-length extensions  :</a:t>
                </a:r>
              </a:p>
              <a:p>
                <a:pPr marL="0" indent="0">
                  <a:buNone/>
                </a:pPr>
                <a14:m>
                  <m:oMathPara xmlns:m="http://schemas.openxmlformats.org/officeDocument/2006/math">
                    <m:oMathParaPr>
                      <m:jc m:val="centerGroup"/>
                    </m:oMathParaPr>
                    <m:oMath xmlns:m="http://schemas.openxmlformats.org/officeDocument/2006/math">
                      <m:r>
                        <a:rPr lang="en-IN" sz="2000" b="0" i="1" smtClean="0">
                          <a:effectLst/>
                          <a:latin typeface="Cambria Math" panose="02040503050406030204" pitchFamily="18" charset="0"/>
                          <a:ea typeface="Calibri" panose="020F0502020204030204" pitchFamily="34" charset="0"/>
                          <a:cs typeface="Times New Roman" panose="02020603050405020304" pitchFamily="18" charset="0"/>
                        </a:rPr>
                        <m:t>∆</m:t>
                      </m:r>
                      <m:r>
                        <a:rPr lang="en-IN" sz="2000" b="0" i="1" smtClean="0">
                          <a:effectLst/>
                          <a:latin typeface="Cambria Math" panose="02040503050406030204" pitchFamily="18" charset="0"/>
                          <a:ea typeface="Calibri" panose="020F0502020204030204" pitchFamily="34" charset="0"/>
                          <a:cs typeface="Times New Roman" panose="02020603050405020304" pitchFamily="18" charset="0"/>
                        </a:rPr>
                        <m:t>𝐿</m:t>
                      </m:r>
                      <m:r>
                        <a:rPr lang="en-IN" sz="2000" b="0" i="1" smtClean="0">
                          <a:effectLst/>
                          <a:latin typeface="Cambria Math" panose="02040503050406030204" pitchFamily="18" charset="0"/>
                          <a:ea typeface="Calibri" panose="020F0502020204030204" pitchFamily="34" charset="0"/>
                          <a:cs typeface="Times New Roman" panose="02020603050405020304" pitchFamily="18" charset="0"/>
                        </a:rPr>
                        <m:t>=0.412</m:t>
                      </m:r>
                      <m:r>
                        <a:rPr lang="en-IN" sz="2000" b="0" i="1" smtClean="0">
                          <a:effectLst/>
                          <a:latin typeface="Cambria Math" panose="02040503050406030204" pitchFamily="18" charset="0"/>
                          <a:ea typeface="Calibri" panose="020F0502020204030204" pitchFamily="34" charset="0"/>
                          <a:cs typeface="Times New Roman" panose="02020603050405020304" pitchFamily="18" charset="0"/>
                        </a:rPr>
                        <m:t>h</m:t>
                      </m:r>
                      <m:r>
                        <a:rPr lang="en-IN" sz="2000" b="0" i="1" smtClean="0">
                          <a:effectLst/>
                          <a:latin typeface="Cambria Math" panose="02040503050406030204" pitchFamily="18" charset="0"/>
                          <a:ea typeface="Calibri" panose="020F0502020204030204" pitchFamily="34" charset="0"/>
                          <a:cs typeface="Times New Roman" panose="02020603050405020304" pitchFamily="18" charset="0"/>
                        </a:rPr>
                        <m:t> </m:t>
                      </m:r>
                      <m:f>
                        <m:fPr>
                          <m:ctrlPr>
                            <a:rPr lang="en-IN"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d>
                            <m:dPr>
                              <m:ctrlPr>
                                <a:rPr lang="en-IN" sz="2000" i="1">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IN"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IN" sz="2000" b="0" i="1">
                                      <a:effectLst/>
                                      <a:latin typeface="Cambria Math" panose="02040503050406030204" pitchFamily="18" charset="0"/>
                                      <a:ea typeface="Times New Roman" panose="02020603050405020304" pitchFamily="18" charset="0"/>
                                      <a:cs typeface="Times New Roman" panose="02020603050405020304" pitchFamily="18" charset="0"/>
                                    </a:rPr>
                                    <m:t>ℇ</m:t>
                                  </m:r>
                                </m:e>
                                <m:sub>
                                  <m:r>
                                    <a:rPr lang="en-IN" sz="2000" b="0" i="1">
                                      <a:effectLst/>
                                      <a:latin typeface="Cambria Math" panose="02040503050406030204" pitchFamily="18" charset="0"/>
                                      <a:ea typeface="Times New Roman" panose="02020603050405020304" pitchFamily="18" charset="0"/>
                                      <a:cs typeface="Times New Roman" panose="02020603050405020304" pitchFamily="18" charset="0"/>
                                    </a:rPr>
                                    <m:t>𝑟</m:t>
                                  </m:r>
                                </m:sub>
                              </m:sSub>
                              <m:r>
                                <a:rPr lang="en-IN" sz="2000" b="0" i="1">
                                  <a:effectLst/>
                                  <a:latin typeface="Cambria Math" panose="02040503050406030204" pitchFamily="18" charset="0"/>
                                  <a:ea typeface="Times New Roman" panose="02020603050405020304" pitchFamily="18" charset="0"/>
                                  <a:cs typeface="Times New Roman" panose="02020603050405020304" pitchFamily="18" charset="0"/>
                                </a:rPr>
                                <m:t>+0.3</m:t>
                              </m:r>
                            </m:e>
                          </m:d>
                          <m:r>
                            <a:rPr lang="en-IN" sz="2000" b="0" i="1">
                              <a:effectLst/>
                              <a:latin typeface="Cambria Math" panose="02040503050406030204" pitchFamily="18" charset="0"/>
                              <a:ea typeface="Times New Roman" panose="02020603050405020304" pitchFamily="18" charset="0"/>
                              <a:cs typeface="Times New Roman" panose="02020603050405020304" pitchFamily="18" charset="0"/>
                            </a:rPr>
                            <m:t> </m:t>
                          </m:r>
                        </m:num>
                        <m:den>
                          <m:sSub>
                            <m:sSubPr>
                              <m:ctrlPr>
                                <a:rPr lang="en-IN"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IN" sz="2000" b="0" i="1">
                                  <a:effectLst/>
                                  <a:latin typeface="Cambria Math" panose="02040503050406030204" pitchFamily="18" charset="0"/>
                                  <a:ea typeface="Times New Roman" panose="02020603050405020304" pitchFamily="18" charset="0"/>
                                  <a:cs typeface="Times New Roman" panose="02020603050405020304" pitchFamily="18" charset="0"/>
                                </a:rPr>
                                <m:t>(ℇ</m:t>
                              </m:r>
                            </m:e>
                            <m:sub>
                              <m:r>
                                <a:rPr lang="en-IN" sz="2000" b="0" i="1">
                                  <a:effectLst/>
                                  <a:latin typeface="Cambria Math" panose="02040503050406030204" pitchFamily="18" charset="0"/>
                                  <a:ea typeface="Times New Roman" panose="02020603050405020304" pitchFamily="18" charset="0"/>
                                  <a:cs typeface="Times New Roman" panose="02020603050405020304" pitchFamily="18" charset="0"/>
                                </a:rPr>
                                <m:t>𝑒𝑓𝑓</m:t>
                              </m:r>
                            </m:sub>
                          </m:sSub>
                          <m:r>
                            <a:rPr lang="en-IN" sz="2000" b="0" i="1">
                              <a:effectLst/>
                              <a:latin typeface="Cambria Math" panose="02040503050406030204" pitchFamily="18" charset="0"/>
                              <a:ea typeface="Times New Roman" panose="02020603050405020304" pitchFamily="18" charset="0"/>
                              <a:cs typeface="Times New Roman" panose="02020603050405020304" pitchFamily="18" charset="0"/>
                            </a:rPr>
                            <m:t>−0.258)</m:t>
                          </m:r>
                        </m:den>
                      </m:f>
                      <m:r>
                        <a:rPr lang="en-IN" sz="2000" b="0" i="1">
                          <a:effectLst/>
                          <a:latin typeface="Cambria Math" panose="02040503050406030204" pitchFamily="18" charset="0"/>
                          <a:ea typeface="Times New Roman" panose="02020603050405020304" pitchFamily="18" charset="0"/>
                          <a:cs typeface="Times New Roman" panose="02020603050405020304" pitchFamily="18" charset="0"/>
                        </a:rPr>
                        <m:t>  </m:t>
                      </m:r>
                      <m:f>
                        <m:fPr>
                          <m:ctrlPr>
                            <a:rPr lang="en-IN"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IN" sz="2000" b="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IN"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IN" sz="2000" b="0" i="1">
                                  <a:effectLst/>
                                  <a:latin typeface="Cambria Math" panose="02040503050406030204" pitchFamily="18" charset="0"/>
                                  <a:ea typeface="Times New Roman" panose="02020603050405020304" pitchFamily="18" charset="0"/>
                                  <a:cs typeface="Times New Roman" panose="02020603050405020304" pitchFamily="18" charset="0"/>
                                </a:rPr>
                                <m:t>𝑊</m:t>
                              </m:r>
                            </m:num>
                            <m:den>
                              <m:r>
                                <a:rPr lang="en-IN" sz="2000" b="0" i="1">
                                  <a:effectLst/>
                                  <a:latin typeface="Cambria Math" panose="02040503050406030204" pitchFamily="18" charset="0"/>
                                  <a:ea typeface="Times New Roman" panose="02020603050405020304" pitchFamily="18" charset="0"/>
                                  <a:cs typeface="Times New Roman" panose="02020603050405020304" pitchFamily="18" charset="0"/>
                                </a:rPr>
                                <m:t>h</m:t>
                              </m:r>
                            </m:den>
                          </m:f>
                          <m:r>
                            <a:rPr lang="en-IN" sz="2000" b="0" i="1">
                              <a:effectLst/>
                              <a:latin typeface="Cambria Math" panose="02040503050406030204" pitchFamily="18" charset="0"/>
                              <a:ea typeface="Times New Roman" panose="02020603050405020304" pitchFamily="18" charset="0"/>
                              <a:cs typeface="Times New Roman" panose="02020603050405020304" pitchFamily="18" charset="0"/>
                            </a:rPr>
                            <m:t>+0.264)</m:t>
                          </m:r>
                        </m:num>
                        <m:den>
                          <m:r>
                            <a:rPr lang="en-IN" sz="2000" b="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IN"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IN" sz="2000" b="0" i="1">
                                  <a:effectLst/>
                                  <a:latin typeface="Cambria Math" panose="02040503050406030204" pitchFamily="18" charset="0"/>
                                  <a:ea typeface="Times New Roman" panose="02020603050405020304" pitchFamily="18" charset="0"/>
                                  <a:cs typeface="Times New Roman" panose="02020603050405020304" pitchFamily="18" charset="0"/>
                                </a:rPr>
                                <m:t>𝑊</m:t>
                              </m:r>
                            </m:num>
                            <m:den>
                              <m:r>
                                <a:rPr lang="en-IN" sz="2000" b="0" i="1">
                                  <a:effectLst/>
                                  <a:latin typeface="Cambria Math" panose="02040503050406030204" pitchFamily="18" charset="0"/>
                                  <a:ea typeface="Times New Roman" panose="02020603050405020304" pitchFamily="18" charset="0"/>
                                  <a:cs typeface="Times New Roman" panose="02020603050405020304" pitchFamily="18" charset="0"/>
                                </a:rPr>
                                <m:t>h</m:t>
                              </m:r>
                            </m:den>
                          </m:f>
                          <m:r>
                            <a:rPr lang="en-IN" sz="2000" b="0" i="1">
                              <a:effectLst/>
                              <a:latin typeface="Cambria Math" panose="02040503050406030204" pitchFamily="18" charset="0"/>
                              <a:ea typeface="Times New Roman" panose="02020603050405020304" pitchFamily="18" charset="0"/>
                              <a:cs typeface="Times New Roman" panose="02020603050405020304" pitchFamily="18" charset="0"/>
                            </a:rPr>
                            <m:t>+0.8)</m:t>
                          </m:r>
                        </m:den>
                      </m:f>
                    </m:oMath>
                  </m:oMathPara>
                </a14:m>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r>
                  <a:rPr lang="en-IN" sz="2000" kern="100" dirty="0">
                    <a:latin typeface="Times New Roman" panose="02020603050405020304" pitchFamily="18" charset="0"/>
                    <a:ea typeface="Calibri" panose="020F0502020204030204" pitchFamily="34" charset="0"/>
                    <a:cs typeface="Times New Roman" panose="02020603050405020304" pitchFamily="18" charset="0"/>
                  </a:rPr>
                  <a:t>Length of the substrate = Length of the ground= 6h+L</a:t>
                </a:r>
              </a:p>
              <a:p>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Width of the substrate =Wi</a:t>
                </a:r>
                <a:r>
                  <a:rPr lang="en-IN" sz="2000" kern="100" dirty="0">
                    <a:latin typeface="Times New Roman" panose="02020603050405020304" pitchFamily="18" charset="0"/>
                    <a:ea typeface="Calibri" panose="020F0502020204030204" pitchFamily="34" charset="0"/>
                    <a:cs typeface="Times New Roman" panose="02020603050405020304" pitchFamily="18" charset="0"/>
                  </a:rPr>
                  <a:t>dth of the ground=W+6h</a:t>
                </a:r>
              </a:p>
              <a:p>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Length of the feedline : </a:t>
                </a:r>
                <a14:m>
                  <m:oMath xmlns:m="http://schemas.openxmlformats.org/officeDocument/2006/math">
                    <m:f>
                      <m:fPr>
                        <m:ctrlPr>
                          <a:rPr lang="en-IN" sz="2000" i="1" kern="100" smtClean="0">
                            <a:effectLst/>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IN" sz="2000" i="1" kern="100">
                                <a:effectLst/>
                                <a:latin typeface="Cambria Math" panose="02040503050406030204" pitchFamily="18" charset="0"/>
                                <a:ea typeface="Calibri" panose="020F0502020204030204" pitchFamily="34" charset="0"/>
                                <a:cs typeface="Times New Roman" panose="02020603050405020304" pitchFamily="18" charset="0"/>
                              </a:rPr>
                            </m:ctrlPr>
                          </m:sSubPr>
                          <m:e>
                            <m:r>
                              <a:rPr lang="en-IN" sz="2000" i="1" kern="100">
                                <a:effectLst/>
                                <a:latin typeface="Cambria Math" panose="02040503050406030204" pitchFamily="18" charset="0"/>
                                <a:ea typeface="Calibri" panose="020F0502020204030204" pitchFamily="34" charset="0"/>
                                <a:cs typeface="Times New Roman" panose="02020603050405020304" pitchFamily="18" charset="0"/>
                              </a:rPr>
                              <m:t>ℷ</m:t>
                            </m:r>
                          </m:e>
                          <m:sub>
                            <m:r>
                              <a:rPr lang="en-IN" sz="2000" i="1" kern="100">
                                <a:effectLst/>
                                <a:latin typeface="Cambria Math" panose="02040503050406030204" pitchFamily="18" charset="0"/>
                                <a:ea typeface="Calibri" panose="020F0502020204030204" pitchFamily="34" charset="0"/>
                                <a:cs typeface="Times New Roman" panose="02020603050405020304" pitchFamily="18" charset="0"/>
                              </a:rPr>
                              <m:t>𝑔</m:t>
                            </m:r>
                          </m:sub>
                        </m:sSub>
                      </m:num>
                      <m:den>
                        <m:r>
                          <a:rPr lang="en-IN" sz="2000" i="1" kern="100">
                            <a:effectLst/>
                            <a:latin typeface="Cambria Math" panose="02040503050406030204" pitchFamily="18" charset="0"/>
                            <a:ea typeface="Calibri" panose="020F0502020204030204" pitchFamily="34" charset="0"/>
                            <a:cs typeface="Times New Roman" panose="02020603050405020304" pitchFamily="18" charset="0"/>
                          </a:rPr>
                          <m:t>4</m:t>
                        </m:r>
                      </m:den>
                    </m:f>
                  </m:oMath>
                </a14:m>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800" kern="100" dirty="0">
                    <a:latin typeface="Calibri" panose="020F0502020204030204" pitchFamily="34" charset="0"/>
                    <a:ea typeface="Calibri" panose="020F0502020204030204" pitchFamily="34" charset="0"/>
                    <a:cs typeface="Times New Roman" panose="02020603050405020304" pitchFamily="18" charset="0"/>
                  </a:rPr>
                  <a:t>Width of the feedline : </a:t>
                </a:r>
                <a14:m>
                  <m:oMath xmlns:m="http://schemas.openxmlformats.org/officeDocument/2006/math">
                    <m:f>
                      <m:fPr>
                        <m:ctrlPr>
                          <a:rPr lang="en-IN" sz="2000" i="1" smtClean="0">
                            <a:effectLst/>
                            <a:latin typeface="Cambria Math" panose="02040503050406030204" pitchFamily="18" charset="0"/>
                          </a:rPr>
                        </m:ctrlPr>
                      </m:fPr>
                      <m:num>
                        <m:r>
                          <a:rPr lang="en-IN" sz="2000" i="1">
                            <a:effectLst/>
                            <a:latin typeface="Cambria Math" panose="02040503050406030204" pitchFamily="18" charset="0"/>
                            <a:ea typeface="Calibri" panose="020F0502020204030204" pitchFamily="34" charset="0"/>
                            <a:cs typeface="Times New Roman" panose="02020603050405020304" pitchFamily="18" charset="0"/>
                          </a:rPr>
                          <m:t>𝐶</m:t>
                        </m:r>
                      </m:num>
                      <m:den>
                        <m:r>
                          <a:rPr lang="en-IN" sz="2000" i="1">
                            <a:effectLst/>
                            <a:latin typeface="Cambria Math" panose="02040503050406030204" pitchFamily="18" charset="0"/>
                            <a:ea typeface="Calibri" panose="020F0502020204030204" pitchFamily="34" charset="0"/>
                            <a:cs typeface="Times New Roman" panose="02020603050405020304" pitchFamily="18" charset="0"/>
                          </a:rPr>
                          <m:t>2</m:t>
                        </m:r>
                        <m:r>
                          <a:rPr lang="en-IN" sz="2000" i="1">
                            <a:effectLst/>
                            <a:latin typeface="Cambria Math" panose="02040503050406030204" pitchFamily="18" charset="0"/>
                            <a:ea typeface="Calibri" panose="020F0502020204030204" pitchFamily="34" charset="0"/>
                            <a:cs typeface="Times New Roman" panose="02020603050405020304" pitchFamily="18" charset="0"/>
                          </a:rPr>
                          <m:t>𝑓𝑟</m:t>
                        </m:r>
                        <m:r>
                          <a:rPr lang="en-IN" sz="20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IN" sz="2000" i="1">
                                <a:effectLst/>
                                <a:latin typeface="Cambria Math" panose="02040503050406030204" pitchFamily="18" charset="0"/>
                              </a:rPr>
                            </m:ctrlPr>
                          </m:sSubPr>
                          <m:e>
                            <m:r>
                              <a:rPr lang="en-IN" sz="2000" i="1">
                                <a:effectLst/>
                                <a:latin typeface="Cambria Math" panose="02040503050406030204" pitchFamily="18" charset="0"/>
                                <a:ea typeface="Calibri" panose="020F0502020204030204" pitchFamily="34" charset="0"/>
                                <a:cs typeface="Times New Roman" panose="02020603050405020304" pitchFamily="18" charset="0"/>
                              </a:rPr>
                              <m:t>ℰ</m:t>
                            </m:r>
                          </m:e>
                          <m:sub>
                            <m:r>
                              <a:rPr lang="en-IN" sz="2000" i="1">
                                <a:effectLst/>
                                <a:latin typeface="Cambria Math" panose="02040503050406030204" pitchFamily="18" charset="0"/>
                                <a:ea typeface="Calibri" panose="020F0502020204030204" pitchFamily="34" charset="0"/>
                                <a:cs typeface="Times New Roman" panose="02020603050405020304" pitchFamily="18" charset="0"/>
                              </a:rPr>
                              <m:t>𝑒𝑓𝑓</m:t>
                            </m:r>
                          </m:sub>
                        </m:sSub>
                        <m:r>
                          <a:rPr lang="en-IN" sz="2000" i="1">
                            <a:effectLst/>
                            <a:latin typeface="Cambria Math" panose="02040503050406030204" pitchFamily="18" charset="0"/>
                            <a:ea typeface="Calibri" panose="020F0502020204030204" pitchFamily="34" charset="0"/>
                            <a:cs typeface="Times New Roman" panose="02020603050405020304" pitchFamily="18" charset="0"/>
                          </a:rPr>
                          <m:t> </m:t>
                        </m:r>
                      </m:den>
                    </m:f>
                    <m:r>
                      <a:rPr lang="en-IN" sz="20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IN" sz="2000" i="1">
                            <a:effectLst/>
                            <a:latin typeface="Cambria Math" panose="02040503050406030204" pitchFamily="18" charset="0"/>
                          </a:rPr>
                        </m:ctrlPr>
                      </m:fPr>
                      <m:num>
                        <m:r>
                          <a:rPr lang="en-IN" sz="2000" i="1">
                            <a:effectLst/>
                            <a:latin typeface="Cambria Math" panose="02040503050406030204" pitchFamily="18" charset="0"/>
                            <a:ea typeface="Calibri" panose="020F0502020204030204" pitchFamily="34" charset="0"/>
                            <a:cs typeface="Times New Roman" panose="02020603050405020304" pitchFamily="18" charset="0"/>
                          </a:rPr>
                          <m:t>8</m:t>
                        </m:r>
                        <m:sSup>
                          <m:sSupPr>
                            <m:ctrlPr>
                              <a:rPr lang="en-IN" sz="2000" i="1">
                                <a:effectLst/>
                                <a:latin typeface="Cambria Math" panose="02040503050406030204" pitchFamily="18" charset="0"/>
                              </a:rPr>
                            </m:ctrlPr>
                          </m:sSupPr>
                          <m:e>
                            <m:r>
                              <a:rPr lang="en-IN" sz="2000" i="1">
                                <a:effectLst/>
                                <a:latin typeface="Cambria Math" panose="02040503050406030204" pitchFamily="18" charset="0"/>
                                <a:ea typeface="Calibri" panose="020F0502020204030204" pitchFamily="34" charset="0"/>
                                <a:cs typeface="Times New Roman" panose="02020603050405020304" pitchFamily="18" charset="0"/>
                              </a:rPr>
                              <m:t>𝑒</m:t>
                            </m:r>
                          </m:e>
                          <m:sup>
                            <m:r>
                              <a:rPr lang="en-IN" sz="2000" i="1">
                                <a:effectLst/>
                                <a:latin typeface="Cambria Math" panose="02040503050406030204" pitchFamily="18" charset="0"/>
                                <a:ea typeface="Calibri" panose="020F0502020204030204" pitchFamily="34" charset="0"/>
                                <a:cs typeface="Times New Roman" panose="02020603050405020304" pitchFamily="18" charset="0"/>
                              </a:rPr>
                              <m:t>𝐴</m:t>
                            </m:r>
                          </m:sup>
                        </m:sSup>
                      </m:num>
                      <m:den>
                        <m:sSup>
                          <m:sSupPr>
                            <m:ctrlPr>
                              <a:rPr lang="en-IN" sz="2000" i="1">
                                <a:effectLst/>
                                <a:latin typeface="Cambria Math" panose="02040503050406030204" pitchFamily="18" charset="0"/>
                              </a:rPr>
                            </m:ctrlPr>
                          </m:sSupPr>
                          <m:e>
                            <m:r>
                              <a:rPr lang="en-IN" sz="2000" i="1">
                                <a:effectLst/>
                                <a:latin typeface="Cambria Math" panose="02040503050406030204" pitchFamily="18" charset="0"/>
                                <a:ea typeface="Calibri" panose="020F0502020204030204" pitchFamily="34" charset="0"/>
                                <a:cs typeface="Times New Roman" panose="02020603050405020304" pitchFamily="18" charset="0"/>
                              </a:rPr>
                              <m:t>𝑒</m:t>
                            </m:r>
                          </m:e>
                          <m:sup>
                            <m:r>
                              <a:rPr lang="en-IN" sz="2000" i="1">
                                <a:effectLst/>
                                <a:latin typeface="Cambria Math" panose="02040503050406030204" pitchFamily="18" charset="0"/>
                                <a:ea typeface="Calibri" panose="020F0502020204030204" pitchFamily="34" charset="0"/>
                                <a:cs typeface="Times New Roman" panose="02020603050405020304" pitchFamily="18" charset="0"/>
                              </a:rPr>
                              <m:t>2</m:t>
                            </m:r>
                            <m:r>
                              <a:rPr lang="en-IN" sz="2000" i="1">
                                <a:effectLst/>
                                <a:latin typeface="Cambria Math" panose="02040503050406030204" pitchFamily="18" charset="0"/>
                                <a:ea typeface="Calibri" panose="020F0502020204030204" pitchFamily="34" charset="0"/>
                                <a:cs typeface="Times New Roman" panose="02020603050405020304" pitchFamily="18" charset="0"/>
                              </a:rPr>
                              <m:t>𝐴</m:t>
                            </m:r>
                          </m:sup>
                        </m:sSup>
                        <m:r>
                          <a:rPr lang="en-IN" sz="2000" i="1">
                            <a:effectLst/>
                            <a:latin typeface="Cambria Math" panose="02040503050406030204" pitchFamily="18" charset="0"/>
                            <a:ea typeface="Calibri" panose="020F0502020204030204" pitchFamily="34" charset="0"/>
                            <a:cs typeface="Times New Roman" panose="02020603050405020304" pitchFamily="18" charset="0"/>
                          </a:rPr>
                          <m:t>−2</m:t>
                        </m:r>
                      </m:den>
                    </m:f>
                  </m:oMath>
                </a14:m>
                <a:r>
                  <a:rPr lang="en-IN" sz="2000" dirty="0">
                    <a:effectLst/>
                    <a:latin typeface="Calibri" panose="020F0502020204030204" pitchFamily="34" charset="0"/>
                    <a:ea typeface="Times New Roman" panose="02020603050405020304" pitchFamily="18" charset="0"/>
                    <a:cs typeface="Times New Roman" panose="02020603050405020304" pitchFamily="18" charset="0"/>
                  </a:rPr>
                  <a:t>)</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457200" y="836712"/>
                <a:ext cx="8147248" cy="5289451"/>
              </a:xfrm>
              <a:blipFill>
                <a:blip r:embed="rId2"/>
                <a:stretch>
                  <a:fillRect l="-674" t="-115"/>
                </a:stretch>
              </a:blipFill>
            </p:spPr>
            <p:txBody>
              <a:bodyPr/>
              <a:lstStyle/>
              <a:p>
                <a:r>
                  <a:rPr lang="en-IN">
                    <a:noFill/>
                  </a:rPr>
                  <a:t> </a:t>
                </a: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txBody>
          <a:bodyPr>
            <a:normAutofit/>
          </a:bodyPr>
          <a:lstStyle/>
          <a:p>
            <a:r>
              <a:rPr lang="en-US" sz="3000" dirty="0">
                <a:solidFill>
                  <a:schemeClr val="accent6"/>
                </a:solidFill>
              </a:rPr>
              <a:t>Flow Chart</a:t>
            </a:r>
          </a:p>
        </p:txBody>
      </p:sp>
      <p:pic>
        <p:nvPicPr>
          <p:cNvPr id="4" name="Content Placeholder 3"/>
          <p:cNvPicPr>
            <a:picLocks noGrp="1" noChangeAspect="1"/>
          </p:cNvPicPr>
          <p:nvPr>
            <p:ph idx="1"/>
          </p:nvPr>
        </p:nvPicPr>
        <p:blipFill>
          <a:blip r:embed="rId2"/>
          <a:stretch>
            <a:fillRect/>
          </a:stretch>
        </p:blipFill>
        <p:spPr>
          <a:xfrm>
            <a:off x="2411759" y="836712"/>
            <a:ext cx="4320481" cy="566759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246FB-8F37-E0C5-A259-7C5E04083B3E}"/>
              </a:ext>
            </a:extLst>
          </p:cNvPr>
          <p:cNvSpPr>
            <a:spLocks noGrp="1"/>
          </p:cNvSpPr>
          <p:nvPr>
            <p:ph type="title"/>
          </p:nvPr>
        </p:nvSpPr>
        <p:spPr/>
        <p:txBody>
          <a:bodyPr>
            <a:normAutofit/>
          </a:bodyPr>
          <a:lstStyle/>
          <a:p>
            <a:r>
              <a:rPr lang="en-IN" sz="3200" dirty="0">
                <a:solidFill>
                  <a:schemeClr val="accent6"/>
                </a:solidFill>
                <a:latin typeface="Times New Roman" panose="02020603050405020304" pitchFamily="18" charset="0"/>
                <a:cs typeface="Times New Roman" panose="02020603050405020304" pitchFamily="18" charset="0"/>
              </a:rPr>
              <a:t>Parameters used to design antenna</a:t>
            </a:r>
          </a:p>
        </p:txBody>
      </p:sp>
      <p:graphicFrame>
        <p:nvGraphicFramePr>
          <p:cNvPr id="5" name="Content Placeholder 4">
            <a:extLst>
              <a:ext uri="{FF2B5EF4-FFF2-40B4-BE49-F238E27FC236}">
                <a16:creationId xmlns:a16="http://schemas.microsoft.com/office/drawing/2014/main" id="{9D98AB2E-FEAF-8704-BA15-109B27E0E1AF}"/>
              </a:ext>
            </a:extLst>
          </p:cNvPr>
          <p:cNvGraphicFramePr>
            <a:graphicFrameLocks noGrp="1"/>
          </p:cNvGraphicFramePr>
          <p:nvPr>
            <p:ph idx="1"/>
            <p:extLst>
              <p:ext uri="{D42A27DB-BD31-4B8C-83A1-F6EECF244321}">
                <p14:modId xmlns:p14="http://schemas.microsoft.com/office/powerpoint/2010/main" val="1824915141"/>
              </p:ext>
            </p:extLst>
          </p:nvPr>
        </p:nvGraphicFramePr>
        <p:xfrm>
          <a:off x="1475656" y="2060848"/>
          <a:ext cx="6264696" cy="3024340"/>
        </p:xfrm>
        <a:graphic>
          <a:graphicData uri="http://schemas.openxmlformats.org/drawingml/2006/table">
            <a:tbl>
              <a:tblPr firstRow="1" firstCol="1" bandRow="1">
                <a:tableStyleId>{5C22544A-7EE6-4342-B048-85BDC9FD1C3A}</a:tableStyleId>
              </a:tblPr>
              <a:tblGrid>
                <a:gridCol w="3132348">
                  <a:extLst>
                    <a:ext uri="{9D8B030D-6E8A-4147-A177-3AD203B41FA5}">
                      <a16:colId xmlns:a16="http://schemas.microsoft.com/office/drawing/2014/main" val="515355559"/>
                    </a:ext>
                  </a:extLst>
                </a:gridCol>
                <a:gridCol w="3132348">
                  <a:extLst>
                    <a:ext uri="{9D8B030D-6E8A-4147-A177-3AD203B41FA5}">
                      <a16:colId xmlns:a16="http://schemas.microsoft.com/office/drawing/2014/main" val="3158623213"/>
                    </a:ext>
                  </a:extLst>
                </a:gridCol>
              </a:tblGrid>
              <a:tr h="337367">
                <a:tc>
                  <a:txBody>
                    <a:bodyPr/>
                    <a:lstStyle/>
                    <a:p>
                      <a:pPr>
                        <a:lnSpc>
                          <a:spcPct val="107000"/>
                        </a:lnSpc>
                        <a:spcAft>
                          <a:spcPts val="800"/>
                        </a:spcAft>
                        <a:buNone/>
                      </a:pPr>
                      <a:r>
                        <a:rPr lang="en-IN" sz="1100" kern="100">
                          <a:effectLst/>
                        </a:rPr>
                        <a:t>Parameters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100" kern="100">
                          <a:effectLst/>
                        </a:rPr>
                        <a:t>Value (mm)</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85320648"/>
                  </a:ext>
                </a:extLst>
              </a:tr>
              <a:tr h="337367">
                <a:tc>
                  <a:txBody>
                    <a:bodyPr/>
                    <a:lstStyle/>
                    <a:p>
                      <a:pPr>
                        <a:lnSpc>
                          <a:spcPct val="107000"/>
                        </a:lnSpc>
                        <a:spcAft>
                          <a:spcPts val="800"/>
                        </a:spcAft>
                        <a:buNone/>
                      </a:pPr>
                      <a:r>
                        <a:rPr lang="en-IN" sz="1100" kern="100">
                          <a:effectLst/>
                        </a:rPr>
                        <a:t>Length of the patch</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100" kern="100">
                          <a:effectLst/>
                        </a:rPr>
                        <a:t>16.7</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91771131"/>
                  </a:ext>
                </a:extLst>
              </a:tr>
              <a:tr h="337367">
                <a:tc>
                  <a:txBody>
                    <a:bodyPr/>
                    <a:lstStyle/>
                    <a:p>
                      <a:pPr>
                        <a:lnSpc>
                          <a:spcPct val="107000"/>
                        </a:lnSpc>
                        <a:spcAft>
                          <a:spcPts val="800"/>
                        </a:spcAft>
                        <a:buNone/>
                      </a:pPr>
                      <a:r>
                        <a:rPr lang="en-IN" sz="1100" kern="100">
                          <a:effectLst/>
                        </a:rPr>
                        <a:t>Width of the patch</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100" kern="100">
                          <a:effectLst/>
                        </a:rPr>
                        <a:t>21.6</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1794579"/>
                  </a:ext>
                </a:extLst>
              </a:tr>
              <a:tr h="325404">
                <a:tc>
                  <a:txBody>
                    <a:bodyPr/>
                    <a:lstStyle/>
                    <a:p>
                      <a:pPr>
                        <a:lnSpc>
                          <a:spcPct val="107000"/>
                        </a:lnSpc>
                        <a:spcAft>
                          <a:spcPts val="800"/>
                        </a:spcAft>
                        <a:buNone/>
                      </a:pPr>
                      <a:r>
                        <a:rPr lang="en-IN" sz="1100" kern="100">
                          <a:effectLst/>
                        </a:rPr>
                        <a:t>Length of the ground</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100" kern="100">
                          <a:effectLst/>
                        </a:rPr>
                        <a:t>14.28</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77121984"/>
                  </a:ext>
                </a:extLst>
              </a:tr>
              <a:tr h="337367">
                <a:tc>
                  <a:txBody>
                    <a:bodyPr/>
                    <a:lstStyle/>
                    <a:p>
                      <a:pPr>
                        <a:lnSpc>
                          <a:spcPct val="107000"/>
                        </a:lnSpc>
                        <a:spcAft>
                          <a:spcPts val="800"/>
                        </a:spcAft>
                        <a:buNone/>
                      </a:pPr>
                      <a:r>
                        <a:rPr lang="en-IN" sz="1100" kern="100">
                          <a:effectLst/>
                        </a:rPr>
                        <a:t>Width of the ground</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100" kern="100">
                          <a:effectLst/>
                        </a:rPr>
                        <a:t>19.86</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40542312"/>
                  </a:ext>
                </a:extLst>
              </a:tr>
              <a:tr h="337367">
                <a:tc>
                  <a:txBody>
                    <a:bodyPr/>
                    <a:lstStyle/>
                    <a:p>
                      <a:pPr>
                        <a:lnSpc>
                          <a:spcPct val="107000"/>
                        </a:lnSpc>
                        <a:spcAft>
                          <a:spcPts val="800"/>
                        </a:spcAft>
                        <a:buNone/>
                      </a:pPr>
                      <a:r>
                        <a:rPr lang="en-IN" sz="1100" kern="100">
                          <a:effectLst/>
                        </a:rPr>
                        <a:t>Length of the substrate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100" kern="100">
                          <a:effectLst/>
                        </a:rPr>
                        <a:t>14.28</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62516137"/>
                  </a:ext>
                </a:extLst>
              </a:tr>
              <a:tr h="337367">
                <a:tc>
                  <a:txBody>
                    <a:bodyPr/>
                    <a:lstStyle/>
                    <a:p>
                      <a:pPr>
                        <a:lnSpc>
                          <a:spcPct val="107000"/>
                        </a:lnSpc>
                        <a:spcAft>
                          <a:spcPts val="800"/>
                        </a:spcAft>
                        <a:buNone/>
                      </a:pPr>
                      <a:r>
                        <a:rPr lang="en-IN" sz="1100" kern="100">
                          <a:effectLst/>
                        </a:rPr>
                        <a:t>Width of the substrate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100" kern="100">
                          <a:effectLst/>
                        </a:rPr>
                        <a:t>19.86</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78528100"/>
                  </a:ext>
                </a:extLst>
              </a:tr>
              <a:tr h="337367">
                <a:tc>
                  <a:txBody>
                    <a:bodyPr/>
                    <a:lstStyle/>
                    <a:p>
                      <a:pPr>
                        <a:lnSpc>
                          <a:spcPct val="107000"/>
                        </a:lnSpc>
                        <a:spcAft>
                          <a:spcPts val="800"/>
                        </a:spcAft>
                        <a:buNone/>
                      </a:pPr>
                      <a:r>
                        <a:rPr lang="en-IN" sz="1100" kern="100">
                          <a:effectLst/>
                        </a:rPr>
                        <a:t>Length of the feedline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100" kern="100">
                          <a:effectLst/>
                        </a:rPr>
                        <a:t>1.56</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08064712"/>
                  </a:ext>
                </a:extLst>
              </a:tr>
              <a:tr h="337367">
                <a:tc>
                  <a:txBody>
                    <a:bodyPr/>
                    <a:lstStyle/>
                    <a:p>
                      <a:pPr>
                        <a:lnSpc>
                          <a:spcPct val="107000"/>
                        </a:lnSpc>
                        <a:spcAft>
                          <a:spcPts val="800"/>
                        </a:spcAft>
                        <a:buNone/>
                      </a:pPr>
                      <a:r>
                        <a:rPr lang="en-IN" sz="1100" kern="100">
                          <a:effectLst/>
                        </a:rPr>
                        <a:t>Width of the feedline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100" kern="100" dirty="0">
                          <a:effectLst/>
                        </a:rPr>
                        <a:t>5.60</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13074584"/>
                  </a:ext>
                </a:extLst>
              </a:tr>
            </a:tbl>
          </a:graphicData>
        </a:graphic>
      </p:graphicFrame>
    </p:spTree>
    <p:extLst>
      <p:ext uri="{BB962C8B-B14F-4D97-AF65-F5344CB8AC3E}">
        <p14:creationId xmlns:p14="http://schemas.microsoft.com/office/powerpoint/2010/main" val="38219750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A52871D-4270-457D-CE80-2FE2BE718197}"/>
              </a:ext>
            </a:extLst>
          </p:cNvPr>
          <p:cNvSpPr>
            <a:spLocks noGrp="1"/>
          </p:cNvSpPr>
          <p:nvPr>
            <p:ph type="title"/>
          </p:nvPr>
        </p:nvSpPr>
        <p:spPr>
          <a:xfrm>
            <a:off x="457200" y="260648"/>
            <a:ext cx="8229600" cy="2016224"/>
          </a:xfrm>
        </p:spPr>
        <p:txBody>
          <a:bodyPr>
            <a:normAutofit fontScale="90000"/>
          </a:bodyPr>
          <a:lstStyle/>
          <a:p>
            <a:r>
              <a:rPr lang="en-IN" sz="3600" dirty="0">
                <a:solidFill>
                  <a:schemeClr val="accent6"/>
                </a:solidFill>
                <a:latin typeface="Times New Roman" panose="02020603050405020304" pitchFamily="18" charset="0"/>
                <a:cs typeface="Times New Roman" panose="02020603050405020304" pitchFamily="18" charset="0"/>
              </a:rPr>
              <a:t>Simulation &amp; Results</a:t>
            </a:r>
            <a:br>
              <a:rPr lang="en-IN" sz="3200" dirty="0">
                <a:solidFill>
                  <a:schemeClr val="accent6"/>
                </a:solidFill>
              </a:rPr>
            </a:br>
            <a:br>
              <a:rPr lang="en-IN" sz="3200" dirty="0">
                <a:solidFill>
                  <a:schemeClr val="accent6"/>
                </a:solidFill>
              </a:rPr>
            </a:br>
            <a:br>
              <a:rPr lang="en-IN" sz="3200" dirty="0">
                <a:solidFill>
                  <a:schemeClr val="accent6"/>
                </a:solidFill>
              </a:rPr>
            </a:br>
            <a:r>
              <a:rPr lang="en-IN" sz="3600" dirty="0">
                <a:latin typeface="Times New Roman" panose="02020603050405020304" pitchFamily="18" charset="0"/>
                <a:cs typeface="Times New Roman" panose="02020603050405020304" pitchFamily="18" charset="0"/>
              </a:rPr>
              <a:t>Simulation</a:t>
            </a:r>
            <a:r>
              <a:rPr lang="en-IN" sz="3200" dirty="0">
                <a:solidFill>
                  <a:schemeClr val="accent6"/>
                </a:solidFill>
                <a:latin typeface="Times New Roman" panose="02020603050405020304" pitchFamily="18" charset="0"/>
                <a:cs typeface="Times New Roman" panose="02020603050405020304" pitchFamily="18" charset="0"/>
              </a:rPr>
              <a:t>                                          </a:t>
            </a:r>
            <a:r>
              <a:rPr lang="en-IN" sz="3200" dirty="0">
                <a:latin typeface="Times New Roman" panose="02020603050405020304" pitchFamily="18" charset="0"/>
                <a:cs typeface="Times New Roman" panose="02020603050405020304" pitchFamily="18" charset="0"/>
              </a:rPr>
              <a:t>Gain </a:t>
            </a:r>
          </a:p>
        </p:txBody>
      </p:sp>
      <p:pic>
        <p:nvPicPr>
          <p:cNvPr id="7" name="Content Placeholder 6">
            <a:extLst>
              <a:ext uri="{FF2B5EF4-FFF2-40B4-BE49-F238E27FC236}">
                <a16:creationId xmlns:a16="http://schemas.microsoft.com/office/drawing/2014/main" id="{22C1D5A4-EC69-88F6-7297-096353C1D98E}"/>
              </a:ext>
            </a:extLst>
          </p:cNvPr>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457200" y="2348880"/>
            <a:ext cx="4038600" cy="2801625"/>
          </a:xfrm>
          <a:prstGeom prst="rect">
            <a:avLst/>
          </a:prstGeom>
        </p:spPr>
      </p:pic>
      <p:pic>
        <p:nvPicPr>
          <p:cNvPr id="14" name="Content Placeholder 13">
            <a:extLst>
              <a:ext uri="{FF2B5EF4-FFF2-40B4-BE49-F238E27FC236}">
                <a16:creationId xmlns:a16="http://schemas.microsoft.com/office/drawing/2014/main" id="{19512905-3568-D396-52B5-5C2E5DBA77A2}"/>
              </a:ext>
            </a:extLst>
          </p:cNvPr>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4648200" y="2348880"/>
            <a:ext cx="4038600" cy="2801626"/>
          </a:xfrm>
          <a:prstGeom prst="rect">
            <a:avLst/>
          </a:prstGeom>
        </p:spPr>
      </p:pic>
    </p:spTree>
    <p:extLst>
      <p:ext uri="{BB962C8B-B14F-4D97-AF65-F5344CB8AC3E}">
        <p14:creationId xmlns:p14="http://schemas.microsoft.com/office/powerpoint/2010/main" val="4455121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FCDA3-6CBF-C8F0-66D4-A7CE8DA5E4C3}"/>
              </a:ext>
            </a:extLst>
          </p:cNvPr>
          <p:cNvSpPr>
            <a:spLocks noGrp="1"/>
          </p:cNvSpPr>
          <p:nvPr>
            <p:ph type="title"/>
          </p:nvPr>
        </p:nvSpPr>
        <p:spPr>
          <a:xfrm>
            <a:off x="457200" y="1628800"/>
            <a:ext cx="8229600" cy="576064"/>
          </a:xfrm>
        </p:spPr>
        <p:txBody>
          <a:bodyPr>
            <a:noAutofit/>
          </a:bodyPr>
          <a:lstStyle/>
          <a:p>
            <a:r>
              <a:rPr lang="en-IN" sz="3200" dirty="0">
                <a:latin typeface="Times New Roman" panose="02020603050405020304" pitchFamily="18" charset="0"/>
                <a:cs typeface="Times New Roman" panose="02020603050405020304" pitchFamily="18" charset="0"/>
              </a:rPr>
              <a:t>Return Loss                     Radiation Pattern</a:t>
            </a:r>
          </a:p>
        </p:txBody>
      </p:sp>
      <p:pic>
        <p:nvPicPr>
          <p:cNvPr id="7" name="Content Placeholder 2">
            <a:extLst>
              <a:ext uri="{FF2B5EF4-FFF2-40B4-BE49-F238E27FC236}">
                <a16:creationId xmlns:a16="http://schemas.microsoft.com/office/drawing/2014/main" id="{07E7B755-6A41-3CE3-0393-9056992630C5}"/>
              </a:ext>
            </a:extLst>
          </p:cNvPr>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457200" y="2338826"/>
            <a:ext cx="4038600" cy="3048710"/>
          </a:xfrm>
          <a:prstGeom prst="rect">
            <a:avLst/>
          </a:prstGeom>
        </p:spPr>
      </p:pic>
      <p:pic>
        <p:nvPicPr>
          <p:cNvPr id="8" name="Content Placeholder 7">
            <a:extLst>
              <a:ext uri="{FF2B5EF4-FFF2-40B4-BE49-F238E27FC236}">
                <a16:creationId xmlns:a16="http://schemas.microsoft.com/office/drawing/2014/main" id="{C49D3EAC-32B0-BC74-D698-7BD300E89CA4}"/>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4648200" y="2338826"/>
            <a:ext cx="4038600" cy="3048710"/>
          </a:xfrm>
          <a:prstGeom prst="rect">
            <a:avLst/>
          </a:prstGeom>
        </p:spPr>
      </p:pic>
    </p:spTree>
    <p:extLst>
      <p:ext uri="{BB962C8B-B14F-4D97-AF65-F5344CB8AC3E}">
        <p14:creationId xmlns:p14="http://schemas.microsoft.com/office/powerpoint/2010/main" val="16164011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0193D32-5981-09E9-F7FA-B742063D8A32}"/>
              </a:ext>
            </a:extLst>
          </p:cNvPr>
          <p:cNvSpPr>
            <a:spLocks noGrp="1"/>
          </p:cNvSpPr>
          <p:nvPr>
            <p:ph type="title"/>
          </p:nvPr>
        </p:nvSpPr>
        <p:spPr>
          <a:xfrm>
            <a:off x="457200" y="1340768"/>
            <a:ext cx="8229600" cy="864096"/>
          </a:xfrm>
        </p:spPr>
        <p:txBody>
          <a:bodyPr>
            <a:normAutofit fontScale="90000"/>
          </a:bodyPr>
          <a:lstStyle/>
          <a:p>
            <a:r>
              <a:rPr lang="en-IN" sz="3200" dirty="0"/>
              <a:t>         </a:t>
            </a:r>
            <a:br>
              <a:rPr lang="en-IN" sz="3200" dirty="0"/>
            </a:br>
            <a:r>
              <a:rPr lang="en-IN" sz="3200" dirty="0">
                <a:latin typeface="Times New Roman" panose="02020603050405020304" pitchFamily="18" charset="0"/>
                <a:cs typeface="Times New Roman" panose="02020603050405020304" pitchFamily="18" charset="0"/>
              </a:rPr>
              <a:t>VSWR                                  Radiation Efficiency</a:t>
            </a:r>
          </a:p>
        </p:txBody>
      </p:sp>
      <p:pic>
        <p:nvPicPr>
          <p:cNvPr id="8" name="Content Placeholder 7">
            <a:extLst>
              <a:ext uri="{FF2B5EF4-FFF2-40B4-BE49-F238E27FC236}">
                <a16:creationId xmlns:a16="http://schemas.microsoft.com/office/drawing/2014/main" id="{33F7B10A-88D7-1615-F7C9-80F0E68BEBFD}"/>
              </a:ext>
            </a:extLst>
          </p:cNvPr>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457200" y="2316564"/>
            <a:ext cx="4038600" cy="3093234"/>
          </a:xfrm>
          <a:prstGeom prst="rect">
            <a:avLst/>
          </a:prstGeom>
        </p:spPr>
      </p:pic>
      <p:pic>
        <p:nvPicPr>
          <p:cNvPr id="9" name="Content Placeholder 8">
            <a:extLst>
              <a:ext uri="{FF2B5EF4-FFF2-40B4-BE49-F238E27FC236}">
                <a16:creationId xmlns:a16="http://schemas.microsoft.com/office/drawing/2014/main" id="{6A27C769-E166-0A27-7DE3-EBB58AB1DE2D}"/>
              </a:ext>
            </a:extLst>
          </p:cNvPr>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4648200" y="2316565"/>
            <a:ext cx="4038600" cy="3093234"/>
          </a:xfrm>
          <a:prstGeom prst="rect">
            <a:avLst/>
          </a:prstGeom>
        </p:spPr>
      </p:pic>
    </p:spTree>
    <p:extLst>
      <p:ext uri="{BB962C8B-B14F-4D97-AF65-F5344CB8AC3E}">
        <p14:creationId xmlns:p14="http://schemas.microsoft.com/office/powerpoint/2010/main" val="30470944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6A5DA-F5C5-B36B-686A-4C1D5BAE8D9C}"/>
              </a:ext>
            </a:extLst>
          </p:cNvPr>
          <p:cNvSpPr>
            <a:spLocks noGrp="1"/>
          </p:cNvSpPr>
          <p:nvPr>
            <p:ph type="title"/>
          </p:nvPr>
        </p:nvSpPr>
        <p:spPr/>
        <p:txBody>
          <a:bodyPr>
            <a:normAutofit/>
          </a:bodyPr>
          <a:lstStyle/>
          <a:p>
            <a:r>
              <a:rPr lang="en-IN" sz="3200" dirty="0">
                <a:solidFill>
                  <a:schemeClr val="accent6"/>
                </a:solidFill>
                <a:latin typeface="Times New Roman" panose="02020603050405020304" pitchFamily="18" charset="0"/>
                <a:cs typeface="Times New Roman" panose="02020603050405020304" pitchFamily="18" charset="0"/>
              </a:rPr>
              <a:t>Societal relevance</a:t>
            </a:r>
          </a:p>
        </p:txBody>
      </p:sp>
      <p:sp>
        <p:nvSpPr>
          <p:cNvPr id="3" name="Content Placeholder 2">
            <a:extLst>
              <a:ext uri="{FF2B5EF4-FFF2-40B4-BE49-F238E27FC236}">
                <a16:creationId xmlns:a16="http://schemas.microsoft.com/office/drawing/2014/main" id="{96B81336-C895-E54A-CAD7-299BC64A433E}"/>
              </a:ext>
            </a:extLst>
          </p:cNvPr>
          <p:cNvSpPr>
            <a:spLocks noGrp="1"/>
          </p:cNvSpPr>
          <p:nvPr>
            <p:ph idx="1"/>
          </p:nvPr>
        </p:nvSpPr>
        <p:spPr/>
        <p:txBody>
          <a:bodyPr>
            <a:normAutofit/>
          </a:bodyPr>
          <a:lstStyle/>
          <a:p>
            <a:pPr algn="just"/>
            <a:r>
              <a:rPr lang="en-IN" sz="2000" b="1" dirty="0">
                <a:latin typeface="Times New Roman" panose="02020603050405020304" pitchFamily="18" charset="0"/>
                <a:cs typeface="Times New Roman" panose="02020603050405020304" pitchFamily="18" charset="0"/>
              </a:rPr>
              <a:t>Supports 5G Expansion</a:t>
            </a:r>
            <a:r>
              <a:rPr lang="en-IN" sz="2000"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The project contributes to the development of compact and efficient antennas, which are essential for deploying high-speed 5G networks—the backbone of future communication systems</a:t>
            </a:r>
            <a:r>
              <a:rPr lang="en-US" sz="1200" dirty="0">
                <a:latin typeface="Times New Roman" panose="02020603050405020304" pitchFamily="18" charset="0"/>
                <a:cs typeface="Times New Roman" panose="02020603050405020304" pitchFamily="18" charset="0"/>
              </a:rPr>
              <a:t>.</a:t>
            </a:r>
          </a:p>
          <a:p>
            <a:pPr algn="just"/>
            <a:r>
              <a:rPr lang="en-IN" sz="2000" b="1" dirty="0">
                <a:latin typeface="Times New Roman" panose="02020603050405020304" pitchFamily="18" charset="0"/>
                <a:cs typeface="Times New Roman" panose="02020603050405020304" pitchFamily="18" charset="0"/>
              </a:rPr>
              <a:t>Enables Smart Infrastructure: </a:t>
            </a:r>
            <a:r>
              <a:rPr lang="en-US" sz="2000" dirty="0">
                <a:latin typeface="Times New Roman" panose="02020603050405020304" pitchFamily="18" charset="0"/>
                <a:cs typeface="Times New Roman" panose="02020603050405020304" pitchFamily="18" charset="0"/>
              </a:rPr>
              <a:t>5G antennas like this one can be integrated into smart cities, improving real-time data transfer for traffic management, remote healthcare, IOT, and public safety systems</a:t>
            </a:r>
            <a:r>
              <a:rPr lang="en-US" sz="1200" dirty="0">
                <a:latin typeface="Times New Roman" panose="02020603050405020304" pitchFamily="18" charset="0"/>
                <a:cs typeface="Times New Roman" panose="02020603050405020304" pitchFamily="18" charset="0"/>
              </a:rPr>
              <a:t>.</a:t>
            </a:r>
            <a:endParaRPr lang="en-IN"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1532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E6C0C-FC01-ECA4-E39F-13061B290C0E}"/>
              </a:ext>
            </a:extLst>
          </p:cNvPr>
          <p:cNvSpPr>
            <a:spLocks noGrp="1"/>
          </p:cNvSpPr>
          <p:nvPr>
            <p:ph type="title"/>
          </p:nvPr>
        </p:nvSpPr>
        <p:spPr/>
        <p:txBody>
          <a:bodyPr>
            <a:normAutofit/>
          </a:bodyPr>
          <a:lstStyle/>
          <a:p>
            <a:r>
              <a:rPr lang="en-IN" sz="3200" dirty="0">
                <a:solidFill>
                  <a:schemeClr val="accent6"/>
                </a:solidFill>
                <a:latin typeface="Times New Roman" panose="02020603050405020304" pitchFamily="18" charset="0"/>
                <a:cs typeface="Times New Roman" panose="02020603050405020304" pitchFamily="18" charset="0"/>
              </a:rPr>
              <a:t>Conclusion and future scope</a:t>
            </a:r>
          </a:p>
        </p:txBody>
      </p:sp>
      <p:sp>
        <p:nvSpPr>
          <p:cNvPr id="3" name="Content Placeholder 2">
            <a:extLst>
              <a:ext uri="{FF2B5EF4-FFF2-40B4-BE49-F238E27FC236}">
                <a16:creationId xmlns:a16="http://schemas.microsoft.com/office/drawing/2014/main" id="{D60FC45B-104D-400F-5560-CD86C5E5354B}"/>
              </a:ext>
            </a:extLst>
          </p:cNvPr>
          <p:cNvSpPr>
            <a:spLocks noGrp="1"/>
          </p:cNvSpPr>
          <p:nvPr>
            <p:ph idx="1"/>
          </p:nvPr>
        </p:nvSpPr>
        <p:spPr/>
        <p:txBody>
          <a:bodyPr>
            <a:normAutofit/>
          </a:bodyPr>
          <a:lstStyle/>
          <a:p>
            <a:pPr algn="just"/>
            <a:r>
              <a:rPr lang="en-US" sz="2000" dirty="0">
                <a:latin typeface="Times New Roman" panose="02020603050405020304" pitchFamily="18" charset="0"/>
                <a:cs typeface="Times New Roman" panose="02020603050405020304" pitchFamily="18" charset="0"/>
              </a:rPr>
              <a:t>The rectangular microstrip patch antenna, developed and evaluated using advanced high-frequency simulation tools, exhibits outstanding performance at a resonant </a:t>
            </a:r>
            <a:r>
              <a:rPr lang="en-US" sz="2000">
                <a:latin typeface="Times New Roman" panose="02020603050405020304" pitchFamily="18" charset="0"/>
                <a:cs typeface="Times New Roman" panose="02020603050405020304" pitchFamily="18" charset="0"/>
              </a:rPr>
              <a:t>frequency of 27 </a:t>
            </a:r>
            <a:r>
              <a:rPr lang="en-US" sz="2000" dirty="0">
                <a:latin typeface="Times New Roman" panose="02020603050405020304" pitchFamily="18" charset="0"/>
                <a:cs typeface="Times New Roman" panose="02020603050405020304" pitchFamily="18" charset="0"/>
              </a:rPr>
              <a:t>GHz. This renders it highly suitable for contemporary communication systems, especially within the domain of 5Gtechnology.</a:t>
            </a:r>
          </a:p>
          <a:p>
            <a:pPr algn="just"/>
            <a:r>
              <a:rPr lang="en-US" sz="2000" dirty="0">
                <a:latin typeface="Times New Roman" panose="02020603050405020304" pitchFamily="18" charset="0"/>
                <a:cs typeface="Times New Roman" panose="02020603050405020304" pitchFamily="18" charset="0"/>
              </a:rPr>
              <a:t>The antenna achieves a measured gain of 5.29 dB, a Voltage Standing Wave Ratio (VSWR) of 1.46, and a return loss of-14.46 DB. Additionally, it delivers a bandwidth of 970 MHz and an efficiency of 78.85%.</a:t>
            </a:r>
          </a:p>
          <a:p>
            <a:pPr algn="just"/>
            <a:r>
              <a:rPr lang="en-US" sz="2000" dirty="0">
                <a:latin typeface="Times New Roman" panose="02020603050405020304" pitchFamily="18" charset="0"/>
                <a:cs typeface="Times New Roman" panose="02020603050405020304" pitchFamily="18" charset="0"/>
              </a:rPr>
              <a:t>Future stages of the project will focus on testing and validating the antenna's performance using real-world measurements, comparing the results with the simulation data</a:t>
            </a:r>
          </a:p>
        </p:txBody>
      </p:sp>
    </p:spTree>
    <p:extLst>
      <p:ext uri="{BB962C8B-B14F-4D97-AF65-F5344CB8AC3E}">
        <p14:creationId xmlns:p14="http://schemas.microsoft.com/office/powerpoint/2010/main" val="11421199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12790-C88E-73D9-5FC0-C6497060278C}"/>
              </a:ext>
            </a:extLst>
          </p:cNvPr>
          <p:cNvSpPr>
            <a:spLocks noGrp="1"/>
          </p:cNvSpPr>
          <p:nvPr>
            <p:ph type="title"/>
          </p:nvPr>
        </p:nvSpPr>
        <p:spPr/>
        <p:txBody>
          <a:bodyPr>
            <a:noAutofit/>
          </a:bodyPr>
          <a:lstStyle/>
          <a:p>
            <a:r>
              <a:rPr lang="en-IN" sz="3200" dirty="0">
                <a:solidFill>
                  <a:schemeClr val="accent6"/>
                </a:solidFill>
                <a:latin typeface="Times New Roman" panose="02020603050405020304" pitchFamily="18" charset="0"/>
                <a:cs typeface="Times New Roman" panose="02020603050405020304" pitchFamily="18" charset="0"/>
              </a:rPr>
              <a:t>Comparison of proposed and existing methods</a:t>
            </a:r>
          </a:p>
        </p:txBody>
      </p:sp>
      <p:pic>
        <p:nvPicPr>
          <p:cNvPr id="5" name="Content Placeholder 4">
            <a:extLst>
              <a:ext uri="{FF2B5EF4-FFF2-40B4-BE49-F238E27FC236}">
                <a16:creationId xmlns:a16="http://schemas.microsoft.com/office/drawing/2014/main" id="{C28D0C44-E61A-7E6E-EA2D-70A735DFF58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06291" y="1844824"/>
            <a:ext cx="7526149" cy="2736304"/>
          </a:xfrm>
        </p:spPr>
      </p:pic>
    </p:spTree>
    <p:extLst>
      <p:ext uri="{BB962C8B-B14F-4D97-AF65-F5344CB8AC3E}">
        <p14:creationId xmlns:p14="http://schemas.microsoft.com/office/powerpoint/2010/main" val="36172044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8C074-F60D-6808-4E98-4CC9A1DCB8D0}"/>
              </a:ext>
            </a:extLst>
          </p:cNvPr>
          <p:cNvSpPr>
            <a:spLocks noGrp="1"/>
          </p:cNvSpPr>
          <p:nvPr>
            <p:ph type="title"/>
          </p:nvPr>
        </p:nvSpPr>
        <p:spPr/>
        <p:txBody>
          <a:bodyPr>
            <a:normAutofit/>
          </a:bodyPr>
          <a:lstStyle/>
          <a:p>
            <a:r>
              <a:rPr lang="en-IN" sz="3200" dirty="0">
                <a:solidFill>
                  <a:schemeClr val="accent6"/>
                </a:solidFill>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AB7878A6-5B8F-CD4B-177A-DFF83BC8803B}"/>
              </a:ext>
            </a:extLst>
          </p:cNvPr>
          <p:cNvSpPr>
            <a:spLocks noGrp="1"/>
          </p:cNvSpPr>
          <p:nvPr>
            <p:ph idx="1"/>
          </p:nvPr>
        </p:nvSpPr>
        <p:spPr>
          <a:xfrm>
            <a:off x="457200" y="1196752"/>
            <a:ext cx="8229600" cy="4929411"/>
          </a:xfrm>
        </p:spPr>
        <p:txBody>
          <a:bodyPr>
            <a:normAutofit/>
          </a:bodyPr>
          <a:lstStyle/>
          <a:p>
            <a:r>
              <a:rPr lang="en-IN" sz="2000" dirty="0">
                <a:latin typeface="Times New Roman" panose="02020603050405020304" pitchFamily="18" charset="0"/>
                <a:cs typeface="Times New Roman" panose="02020603050405020304" pitchFamily="18" charset="0"/>
              </a:rPr>
              <a:t>Nayla Ferdous, Goh Chin Hock, Said Atul Hamidah A. Hamid, M. Nazri    A. Raman, Tiong Sieh Kiong and Mahamood Ismail ”DESIGN OF ASMALL PATCH ANTENNA AT 3.5 GHZ FOR 5G APPLICATION”, Volume 268,DOI 10.1088/1755-1315/268/1/012152.</a:t>
            </a:r>
          </a:p>
          <a:p>
            <a:r>
              <a:rPr lang="en-IN" sz="2000" dirty="0">
                <a:latin typeface="Times New Roman" panose="02020603050405020304" pitchFamily="18" charset="0"/>
                <a:cs typeface="Times New Roman" panose="02020603050405020304" pitchFamily="18" charset="0"/>
              </a:rPr>
              <a:t>S. Bala, Z. Yunusa, S. A. Babali "Design and Analysis of a Rectangular Microstrip Patch Antenna using Different Dielectric Materials for Sub-6GHz 5G Applications" ,Nigerian Journal of Engineering, Vol. 28, No. 2, August 2021, ISSN (print): 0794 – 4756, ISSN(online):2705-3954</a:t>
            </a:r>
          </a:p>
          <a:p>
            <a:r>
              <a:rPr lang="en-US" sz="2000" dirty="0">
                <a:latin typeface="Times New Roman" panose="02020603050405020304" pitchFamily="18" charset="0"/>
                <a:cs typeface="Times New Roman" panose="02020603050405020304" pitchFamily="18" charset="0"/>
              </a:rPr>
              <a:t>Rashmi N,Lakshmisagar H S, " Design, Simulation and Fabrication Analysis of Rectangular Patch Antennas for Enhanced Performance", September 9th, 2024</a:t>
            </a:r>
          </a:p>
          <a:p>
            <a:r>
              <a:rPr lang="en-US" sz="2000" dirty="0">
                <a:latin typeface="Times New Roman" panose="02020603050405020304" pitchFamily="18" charset="0"/>
                <a:cs typeface="Times New Roman" panose="02020603050405020304" pitchFamily="18" charset="0"/>
              </a:rPr>
              <a:t>S. Sridevi and K.  Mahendran, “Design of Millimeter Wave Microstrip Patch Antenna for MIMO Communication,” International Research Journal of Engineering and Technology, vol. 04, no. 10, pp. 1513–1518, 2017</a:t>
            </a:r>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7273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254</TotalTime>
  <Words>1079</Words>
  <Application>Microsoft Office PowerPoint</Application>
  <PresentationFormat>On-screen Show (4:3)</PresentationFormat>
  <Paragraphs>92</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 Math</vt:lpstr>
      <vt:lpstr>Times New Roman</vt:lpstr>
      <vt:lpstr>Office Theme</vt:lpstr>
      <vt:lpstr>PowerPoint Presentation</vt:lpstr>
      <vt:lpstr>Abstract</vt:lpstr>
      <vt:lpstr>Objective of the project work </vt:lpstr>
      <vt:lpstr>Brief description of the work </vt:lpstr>
      <vt:lpstr>Need of the project work</vt:lpstr>
      <vt:lpstr>Mathematical Equations</vt:lpstr>
      <vt:lpstr>Flow Chart</vt:lpstr>
      <vt:lpstr>Parameters used to design antenna</vt:lpstr>
      <vt:lpstr>Simulation &amp; Results   Simulation                                          Gain </vt:lpstr>
      <vt:lpstr>Return Loss                     Radiation Pattern</vt:lpstr>
      <vt:lpstr>          VSWR                                  Radiation Efficiency</vt:lpstr>
      <vt:lpstr>Societal relevance</vt:lpstr>
      <vt:lpstr>Conclusion and future scope</vt:lpstr>
      <vt:lpstr>Comparison of proposed and existing methods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JANGAMREDDY CHANDRAVATHI</cp:lastModifiedBy>
  <cp:revision>20</cp:revision>
  <dcterms:created xsi:type="dcterms:W3CDTF">2022-01-31T06:38:00Z</dcterms:created>
  <dcterms:modified xsi:type="dcterms:W3CDTF">2025-04-23T15:43:30Z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A23FE872E8E746FEB73B291F23776A43_13</vt:lpwstr>
  </property>
  <property fmtid="{D5CDD505-2E9C-101B-9397-08002B2CF9AE}" pid="3" name="KSOProductBuildVer">
    <vt:lpwstr>1033-12.2.0.20782</vt:lpwstr>
  </property>
</Properties>
</file>